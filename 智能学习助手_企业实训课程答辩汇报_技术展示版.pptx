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493776"/>
            <a:ext cx="1234440" cy="283464"/>
          </a:xfrm>
          <a:prstGeom prst="roundRect">
            <a:avLst/>
          </a:prstGeom>
          <a:solidFill>
            <a:srgbClr val="1D365C"/>
          </a:solidFill>
          <a:ln>
            <a:solidFill>
              <a:srgbClr val="1D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539496"/>
            <a:ext cx="1234440" cy="1371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企业实训项目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8229600" cy="5486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600" b="1">
                <a:solidFill>
                  <a:srgbClr val="1D365C"/>
                </a:solidFill>
                <a:latin typeface="Microsoft YaHei"/>
              </a:rPr>
              <a:t>智能学习助手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9326880" cy="3383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800" b="0">
                <a:solidFill>
                  <a:srgbClr val="2A374C"/>
                </a:solidFill>
                <a:latin typeface="Microsoft YaHei"/>
              </a:rPr>
              <a:t>StudyPilot：基于 RAG、学习计划与学习反馈的个性化学习平台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78608"/>
            <a:ext cx="768096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650" b="0">
                <a:solidFill>
                  <a:srgbClr val="6C7B94"/>
                </a:solidFill>
                <a:latin typeface="Microsoft YaHei"/>
              </a:rPr>
              <a:t>通过真实数据链路，连接课程资料、智能问答、每日任务与学习反馈。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224528"/>
            <a:ext cx="2075688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4224528"/>
            <a:ext cx="50292" cy="950976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50" b="1">
                <a:solidFill>
                  <a:srgbClr val="1D365C"/>
                </a:solidFill>
                <a:latin typeface="Microsoft YaHei"/>
              </a:rPr>
              <a:t>私有资料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82312"/>
            <a:ext cx="169164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RAG 引用问答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4224528"/>
            <a:ext cx="2075688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18103" y="4224528"/>
            <a:ext cx="50292" cy="950976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59" y="438912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50" b="1">
                <a:solidFill>
                  <a:srgbClr val="1D365C"/>
                </a:solidFill>
                <a:latin typeface="Microsoft YaHei"/>
              </a:rPr>
              <a:t>可执行计划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59" y="4782312"/>
            <a:ext cx="169164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候选确认与任务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4224528"/>
            <a:ext cx="2075688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49824" y="4224528"/>
            <a:ext cx="50292" cy="950976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38912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150" b="1">
                <a:solidFill>
                  <a:srgbClr val="1D365C"/>
                </a:solidFill>
                <a:latin typeface="Microsoft YaHei"/>
              </a:rPr>
              <a:t>学习反馈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782312"/>
            <a:ext cx="169164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掌握度与趋势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870448"/>
            <a:ext cx="950976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项目成员：成员一（待填写）   ·   成员二（待填写）   ·   成员三（待填写）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6181344"/>
            <a:ext cx="950976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00" b="0">
                <a:solidFill>
                  <a:srgbClr val="6C7B94"/>
                </a:solidFill>
                <a:latin typeface="Microsoft YaHei"/>
              </a:rPr>
              <a:t>指导教师：____________    汇报日期：____________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项目背景：学习过程中的资料、计划与反馈断点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围绕学生真实学习场景，我们将零散工具整合为统一平台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50292" cy="1874519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856232"/>
            <a:ext cx="295351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资料断点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249424"/>
            <a:ext cx="2953512" cy="11887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课件、笔记与文档分散；很难定位答案的可信出处。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69164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1691640"/>
            <a:ext cx="50292" cy="1874519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856232"/>
            <a:ext cx="295351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计划断点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249424"/>
            <a:ext cx="2953512" cy="11887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学习安排依赖经验，无法结合考试、弱项与时间预算。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1691640"/>
            <a:ext cx="33375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1896" y="1691640"/>
            <a:ext cx="50292" cy="1874519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856232"/>
            <a:ext cx="295351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反馈断点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249424"/>
            <a:ext cx="2953512" cy="1188719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完成学习后缺少数据沉淀，也缺少下一步行动建议。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1014984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2000" b="1">
                <a:solidFill>
                  <a:srgbClr val="1D365C"/>
                </a:solidFill>
                <a:latin typeface="Microsoft YaHei"/>
              </a:rPr>
              <a:t>项目目标：让“问什么、学什么、完成得怎么样”形成可验证的学习闭环。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核心方案：由 RAG 驱动的学习闭环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系统重点不在单次回答，而在持续记录与反馈学习过程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965960"/>
            <a:ext cx="1600200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上传资料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121408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1965960"/>
            <a:ext cx="1600200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RAG 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121408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965960"/>
            <a:ext cx="1600200" cy="548640"/>
          </a:xfrm>
          <a:prstGeom prst="roundRect">
            <a:avLst/>
          </a:prstGeom>
          <a:solidFill>
            <a:srgbClr val="D98440"/>
          </a:solidFill>
          <a:ln>
            <a:solidFill>
              <a:srgbClr val="D98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生成计划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2121408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1965960"/>
            <a:ext cx="1600200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今日任务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2983" y="2121408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965960"/>
            <a:ext cx="1600200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学习记录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656" y="2121408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68128" y="1965960"/>
            <a:ext cx="1600200" cy="548640"/>
          </a:xfrm>
          <a:prstGeom prst="roundRect">
            <a:avLst/>
          </a:prstGeom>
          <a:solidFill>
            <a:srgbClr val="7461AB"/>
          </a:solidFill>
          <a:ln>
            <a:solidFill>
              <a:srgbClr val="74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掌握度反馈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749039"/>
            <a:ext cx="4937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749039"/>
            <a:ext cx="50292" cy="118872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" y="3913631"/>
            <a:ext cx="455371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可追溯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4306824"/>
            <a:ext cx="4553712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回答展示资料来源与引用证据，而不是只返回自然语言结论。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3749039"/>
            <a:ext cx="4937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3749039"/>
            <a:ext cx="50292" cy="1188720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913631"/>
            <a:ext cx="455371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可执行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306824"/>
            <a:ext cx="4553712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计划经过用户确认后成为今日任务，并在完成后更新学习数据。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实际技术栈：每个组件承担清晰职责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以下内容均来自项目当前代码与部署配置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0156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0292" cy="1490472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3619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前端表现层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29384"/>
            <a:ext cx="3017520" cy="804671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Vue 3 · TypeScript · Vite
Element Plus · Pinia · ECharts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371600"/>
            <a:ext cx="340156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371600"/>
            <a:ext cx="50292" cy="1490472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3619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业务服务层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1929384"/>
            <a:ext cx="3017520" cy="804671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FastAPI · Pydantic · SQLAlchemy
JWT 鉴权 · 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1371600"/>
            <a:ext cx="340156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4" y="1371600"/>
            <a:ext cx="50292" cy="1490472"/>
          </a:xfrm>
          <a:prstGeom prst="rect">
            <a:avLst/>
          </a:prstGeom>
          <a:solidFill>
            <a:srgbClr val="74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53619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数据与检索层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29384"/>
            <a:ext cx="3017520" cy="804671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PostgreSQL · pgvector
文档切块 · 向量相似度检索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37560"/>
            <a:ext cx="340156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37560"/>
            <a:ext cx="50292" cy="1490472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5021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异步与缓存层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3895344"/>
            <a:ext cx="3017520" cy="804671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Redis · Celery
文档处理 · 任务进度 · 队列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3712" y="3337560"/>
            <a:ext cx="340156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53712" y="3337560"/>
            <a:ext cx="50292" cy="1490472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5021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部署与运维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895344"/>
            <a:ext cx="3017520" cy="804671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Docker Compose · Nginx
健康检查 · 共享上传卷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75904" y="3337560"/>
            <a:ext cx="3401568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75904" y="3337560"/>
            <a:ext cx="50292" cy="1490472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5021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Agent 扩展层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895344"/>
            <a:ext cx="3017520" cy="804671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MCP Server
确认令牌 · 工具审计 · 受控写入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系统架构：前端、业务 API、异步任务与数据服务协同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分层设计保证页面交互、业务规则和耗时任务各自独立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298448"/>
            <a:ext cx="4800600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Vue 3 前端：页面、状态管理、图表与 API 调用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121408"/>
            <a:ext cx="4800600" cy="548640"/>
          </a:xfrm>
          <a:prstGeom prst="roundRect">
            <a:avLst/>
          </a:prstGeom>
          <a:solidFill>
            <a:srgbClr val="1D365C"/>
          </a:solidFill>
          <a:ln>
            <a:solidFill>
              <a:srgbClr val="1D3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FastAPI：认证、课程、文档、RAG、计划、仪表盘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85032"/>
            <a:ext cx="2999232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PostgreSQL + pgvector
业务数据 + 向量检索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0288" y="3685032"/>
            <a:ext cx="2999232" cy="548640"/>
          </a:xfrm>
          <a:prstGeom prst="roundRect">
            <a:avLst/>
          </a:prstGeom>
          <a:solidFill>
            <a:srgbClr val="D98440"/>
          </a:solidFill>
          <a:ln>
            <a:solidFill>
              <a:srgbClr val="D98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Redis + Celery
缓存 + 队列 + Worker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7616" y="3685032"/>
            <a:ext cx="2999232" cy="548640"/>
          </a:xfrm>
          <a:prstGeom prst="roundRect">
            <a:avLst/>
          </a:prstGeom>
          <a:solidFill>
            <a:srgbClr val="7461AB"/>
          </a:solidFill>
          <a:ln>
            <a:solidFill>
              <a:srgbClr val="74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MCP Server
工具确认与审计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138928"/>
            <a:ext cx="10241280" cy="32918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500" b="1">
                <a:solidFill>
                  <a:srgbClr val="1D365C"/>
                </a:solidFill>
                <a:latin typeface="Microsoft YaHei"/>
              </a:rPr>
              <a:t>Docker Compose 将上述服务组织为可启动的本地全栈环境，便于开发、联调和答辩演示。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核心实现一：资料上传与异步处理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文档处理不阻塞用户请求，处理状态可查询、可恢复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89888"/>
            <a:ext cx="5760720" cy="4160520"/>
          </a:xfrm>
          <a:prstGeom prst="roundRect">
            <a:avLst/>
          </a:prstGeom>
          <a:solidFill>
            <a:srgbClr val="F2F6FB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5760720" cy="329184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499616"/>
            <a:ext cx="59436" cy="59436"/>
          </a:xfrm>
          <a:prstGeom prst="ellipse">
            <a:avLst/>
          </a:prstGeom>
          <a:solidFill>
            <a:srgbClr val="A7B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499616"/>
            <a:ext cx="59436" cy="59436"/>
          </a:xfrm>
          <a:prstGeom prst="ellipse">
            <a:avLst/>
          </a:prstGeom>
          <a:solidFill>
            <a:srgbClr val="B6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712" y="1499616"/>
            <a:ext cx="59436" cy="59436"/>
          </a:xfrm>
          <a:prstGeom prst="ellipse">
            <a:avLst/>
          </a:prstGeom>
          <a:solidFill>
            <a:srgbClr val="C5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1938528"/>
            <a:ext cx="5358383" cy="3291839"/>
          </a:xfrm>
          <a:prstGeom prst="roundRect">
            <a:avLst/>
          </a:prstGeom>
          <a:solidFill>
            <a:srgbClr val="FFFFFF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7B94"/>
                </a:solidFill>
                <a:latin typeface="Microsoft YaHei"/>
              </a:rPr>
              <a:t>粘贴真实项目截图
突出上传、排队、处理成功或失败状态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321808"/>
            <a:ext cx="5486400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50" b="0">
                <a:solidFill>
                  <a:srgbClr val="6C7B94"/>
                </a:solidFill>
                <a:latin typeface="Microsoft YaHei"/>
              </a:rPr>
              <a:t>建议截图：资料上传页 / 文档处理进度页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572768"/>
            <a:ext cx="431596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572768"/>
            <a:ext cx="50292" cy="1042415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737360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异步执行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130552"/>
            <a:ext cx="3931920" cy="3566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Celery Worker 负责解析、切块和向量化等耗时操作。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852928"/>
            <a:ext cx="431596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2852928"/>
            <a:ext cx="50292" cy="1042415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3017520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真实状态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410712"/>
            <a:ext cx="3931920" cy="3566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文档、版本与异步任务状态被持久化，刷新页面可恢复。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133087"/>
            <a:ext cx="431596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4133087"/>
            <a:ext cx="50292" cy="1042415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4297679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权限与失败处理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4690872"/>
            <a:ext cx="3931920" cy="3566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校验课程归属、文件类型和大小，并记录可见错误信息。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核心实现二：基于私有资料的 RAG 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让模型基于检索到的课程资料回答，并将引用证据返回给用户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89888"/>
            <a:ext cx="5760720" cy="4160520"/>
          </a:xfrm>
          <a:prstGeom prst="roundRect">
            <a:avLst/>
          </a:prstGeom>
          <a:solidFill>
            <a:srgbClr val="F2F6FB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5760720" cy="329184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499616"/>
            <a:ext cx="59436" cy="59436"/>
          </a:xfrm>
          <a:prstGeom prst="ellipse">
            <a:avLst/>
          </a:prstGeom>
          <a:solidFill>
            <a:srgbClr val="A7B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499616"/>
            <a:ext cx="59436" cy="59436"/>
          </a:xfrm>
          <a:prstGeom prst="ellipse">
            <a:avLst/>
          </a:prstGeom>
          <a:solidFill>
            <a:srgbClr val="B6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712" y="1499616"/>
            <a:ext cx="59436" cy="59436"/>
          </a:xfrm>
          <a:prstGeom prst="ellipse">
            <a:avLst/>
          </a:prstGeom>
          <a:solidFill>
            <a:srgbClr val="C5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1938528"/>
            <a:ext cx="5358383" cy="3291839"/>
          </a:xfrm>
          <a:prstGeom prst="roundRect">
            <a:avLst/>
          </a:prstGeom>
          <a:solidFill>
            <a:srgbClr val="FFFFFF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7B94"/>
                </a:solidFill>
                <a:latin typeface="Microsoft YaHei"/>
              </a:rPr>
              <a:t>粘贴真实项目截图
突出引用卡片与会话历史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321808"/>
            <a:ext cx="5486400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50" b="0">
                <a:solidFill>
                  <a:srgbClr val="6C7B94"/>
                </a:solidFill>
                <a:latin typeface="Microsoft YaHei"/>
              </a:rPr>
              <a:t>建议截图：智能问答页（问题、回答、引用来源）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572768"/>
            <a:ext cx="431596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572768"/>
            <a:ext cx="50292" cy="1042415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737360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检索范围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130552"/>
            <a:ext cx="3931920" cy="3566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按课程、文档状态与当前版本过滤，避免跨课程资料泄漏。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852928"/>
            <a:ext cx="431596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2852928"/>
            <a:ext cx="50292" cy="1042415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3017520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证据约束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410712"/>
            <a:ext cx="3931920" cy="3566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引用只能来自本次检索结果；资料不足时返回受控答案。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133087"/>
            <a:ext cx="4315968" cy="1042415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4133087"/>
            <a:ext cx="50292" cy="1042415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4297679"/>
            <a:ext cx="39319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会话持久化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4690872"/>
            <a:ext cx="3931920" cy="35661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会话、消息和引用信息写入数据库，刷新可恢复。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核心实现三：结构化学习计划与今日任务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计划不直接生效；候选版本需由用户确认后才能进入每日执行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0992" y="1389888"/>
            <a:ext cx="5779008" cy="4160520"/>
          </a:xfrm>
          <a:prstGeom prst="roundRect">
            <a:avLst/>
          </a:prstGeom>
          <a:solidFill>
            <a:srgbClr val="F2F6FB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50992" y="1389888"/>
            <a:ext cx="5779008" cy="329184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8152" y="1499616"/>
            <a:ext cx="59436" cy="59436"/>
          </a:xfrm>
          <a:prstGeom prst="ellipse">
            <a:avLst/>
          </a:prstGeom>
          <a:solidFill>
            <a:srgbClr val="A7B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07024" y="1499616"/>
            <a:ext cx="59436" cy="59436"/>
          </a:xfrm>
          <a:prstGeom prst="ellipse">
            <a:avLst/>
          </a:prstGeom>
          <a:solidFill>
            <a:srgbClr val="B6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25896" y="1499616"/>
            <a:ext cx="59436" cy="59436"/>
          </a:xfrm>
          <a:prstGeom prst="ellipse">
            <a:avLst/>
          </a:prstGeom>
          <a:solidFill>
            <a:srgbClr val="C5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59" y="1938528"/>
            <a:ext cx="5376672" cy="3291839"/>
          </a:xfrm>
          <a:prstGeom prst="roundRect">
            <a:avLst/>
          </a:prstGeom>
          <a:solidFill>
            <a:srgbClr val="FFFFFF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7B94"/>
                </a:solidFill>
                <a:latin typeface="Microsoft YaHei"/>
              </a:rPr>
              <a:t>粘贴真实项目截图
突出生成、确认与完成操作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5321808"/>
            <a:ext cx="5504688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50" b="0">
                <a:solidFill>
                  <a:srgbClr val="6C7B94"/>
                </a:solidFill>
                <a:latin typeface="Microsoft YaHei"/>
              </a:rPr>
              <a:t>建议截图：学习计划页 / 今日任务页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1481328"/>
            <a:ext cx="3502152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学习目标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075688"/>
            <a:ext cx="3502152" cy="548640"/>
          </a:xfrm>
          <a:prstGeom prst="roundRect">
            <a:avLst/>
          </a:prstGeom>
          <a:solidFill>
            <a:srgbClr val="D98440"/>
          </a:solidFill>
          <a:ln>
            <a:solidFill>
              <a:srgbClr val="D98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候选计划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70048"/>
            <a:ext cx="3502152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确认生效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64408"/>
            <a:ext cx="3502152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今日任务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3502152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完成记录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53128"/>
            <a:ext cx="3502152" cy="548640"/>
          </a:xfrm>
          <a:prstGeom prst="roundRect">
            <a:avLst/>
          </a:prstGeom>
          <a:solidFill>
            <a:srgbClr val="7461AB"/>
          </a:solidFill>
          <a:ln>
            <a:solidFill>
              <a:srgbClr val="74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掌握度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76088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140" b="1">
                <a:solidFill>
                  <a:srgbClr val="1D365C"/>
                </a:solidFill>
                <a:latin typeface="Microsoft YaHei"/>
              </a:rPr>
              <a:t>可靠性：候选/活动版本隔离；重复完成任务不会重复记账。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核心实现四：真实学习首页与数据反馈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首页聚合课程、资料、任务、学习时长、趋势和薄弱点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89888"/>
            <a:ext cx="6601968" cy="4187952"/>
          </a:xfrm>
          <a:prstGeom prst="roundRect">
            <a:avLst/>
          </a:prstGeom>
          <a:solidFill>
            <a:srgbClr val="F2F6FB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6601968" cy="329184"/>
          </a:xfrm>
          <a:prstGeom prst="rect">
            <a:avLst/>
          </a:prstGeom>
          <a:solidFill>
            <a:srgbClr val="E4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499616"/>
            <a:ext cx="59436" cy="59436"/>
          </a:xfrm>
          <a:prstGeom prst="ellipse">
            <a:avLst/>
          </a:prstGeom>
          <a:solidFill>
            <a:srgbClr val="A7B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499616"/>
            <a:ext cx="59436" cy="59436"/>
          </a:xfrm>
          <a:prstGeom prst="ellipse">
            <a:avLst/>
          </a:prstGeom>
          <a:solidFill>
            <a:srgbClr val="B6C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712" y="1499616"/>
            <a:ext cx="59436" cy="59436"/>
          </a:xfrm>
          <a:prstGeom prst="ellipse">
            <a:avLst/>
          </a:prstGeom>
          <a:solidFill>
            <a:srgbClr val="C5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" y="1938528"/>
            <a:ext cx="6199631" cy="3319272"/>
          </a:xfrm>
          <a:prstGeom prst="roundRect">
            <a:avLst/>
          </a:prstGeom>
          <a:solidFill>
            <a:srgbClr val="FFFFFF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6C7B94"/>
                </a:solidFill>
                <a:latin typeface="Microsoft YaHei"/>
              </a:rPr>
              <a:t>粘贴真实项目截图
突出真实任务、趋势图和掌握度数据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349240"/>
            <a:ext cx="6327648" cy="14630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850" b="0">
                <a:solidFill>
                  <a:srgbClr val="6C7B94"/>
                </a:solidFill>
                <a:latin typeface="Microsoft YaHei"/>
              </a:rPr>
              <a:t>建议截图：首页仪表盘完整截图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81328"/>
            <a:ext cx="352044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481328"/>
            <a:ext cx="50292" cy="10607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1645920"/>
            <a:ext cx="31363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任务进度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039112"/>
            <a:ext cx="3136392" cy="374903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活动计划中的今日任务和完成情况。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825496"/>
            <a:ext cx="352044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2825496"/>
            <a:ext cx="50292" cy="1060704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2990088"/>
            <a:ext cx="31363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学习趋势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6136" y="3383279"/>
            <a:ext cx="3136392" cy="374903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学习记录和时长形成可观察的趋势。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4169664"/>
            <a:ext cx="3520440" cy="1060704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4169664"/>
            <a:ext cx="50292" cy="1060704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6136" y="4334256"/>
            <a:ext cx="31363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下一步建议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6136" y="4727448"/>
            <a:ext cx="3136392" cy="374903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根据规则与数据生成可执行的学习提示。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工程亮点：MCP 写操作的受控确认机制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对可能产生副作用的工具调用，系统要求明确确认与可审计执行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75104"/>
            <a:ext cx="1783080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操作预览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130552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1975104"/>
            <a:ext cx="1783080" cy="548640"/>
          </a:xfrm>
          <a:prstGeom prst="roundRect">
            <a:avLst/>
          </a:prstGeom>
          <a:solidFill>
            <a:srgbClr val="D98440"/>
          </a:solidFill>
          <a:ln>
            <a:solidFill>
              <a:srgbClr val="D98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用户确认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30552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1975104"/>
            <a:ext cx="1783080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短时令牌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130552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7" y="1975104"/>
            <a:ext cx="1783080" cy="548640"/>
          </a:xfrm>
          <a:prstGeom prst="roundRect">
            <a:avLst/>
          </a:prstGeom>
          <a:solidFill>
            <a:srgbClr val="7461AB"/>
          </a:solidFill>
          <a:ln>
            <a:solidFill>
              <a:srgbClr val="74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参数校验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0304" y="2130552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700" b="1">
                <a:solidFill>
                  <a:srgbClr val="6C7B94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975104"/>
            <a:ext cx="1783080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执行审计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3890772"/>
            <a:ext cx="91440" cy="91440"/>
          </a:xfrm>
          <a:prstGeom prst="ellipse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39" y="3794760"/>
            <a:ext cx="98755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50" b="0">
                <a:solidFill>
                  <a:srgbClr val="2A374C"/>
                </a:solidFill>
                <a:latin typeface="Microsoft YaHei"/>
              </a:rPr>
              <a:t>确认令牌绑定用户、工具名与操作参数哈希，参数改变后必须重新确认。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" y="4375404"/>
            <a:ext cx="91440" cy="91440"/>
          </a:xfrm>
          <a:prstGeom prst="ellipse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4279392"/>
            <a:ext cx="98755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50" b="0">
                <a:solidFill>
                  <a:srgbClr val="2A374C"/>
                </a:solidFill>
                <a:latin typeface="Microsoft YaHei"/>
              </a:rPr>
              <a:t>令牌默认有效期为 300 秒，签名无效或过期会拒绝执行。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860036"/>
            <a:ext cx="91440" cy="91440"/>
          </a:xfrm>
          <a:prstGeom prst="ellipse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4764024"/>
            <a:ext cx="9875520" cy="26517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450" b="0">
                <a:solidFill>
                  <a:srgbClr val="2A374C"/>
                </a:solidFill>
                <a:latin typeface="Microsoft YaHei"/>
              </a:rPr>
              <a:t>所有工具调用记录成功或失败状态，方便后续追踪与排查。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团队过程：共同推进“需求—实现—验证—复盘”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三名成员协同完成项目，不以单人职责拆分呈现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49834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50292" cy="1481328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673351"/>
            <a:ext cx="459943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共同讨论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066543"/>
            <a:ext cx="4599432" cy="7955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梳理学习场景、核心闭环与功能边界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7" y="1508760"/>
            <a:ext cx="49834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7" y="1508760"/>
            <a:ext cx="50292" cy="148132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1673351"/>
            <a:ext cx="459943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共同实现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2066543"/>
            <a:ext cx="4599432" cy="7955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持续进行前后端联调、异步任务与数据链路打通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10712"/>
            <a:ext cx="49834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10712"/>
            <a:ext cx="50292" cy="1481328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575304"/>
            <a:ext cx="459943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共同验证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" y="3968496"/>
            <a:ext cx="4599432" cy="7955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围绕真实用户路径测试功能、记录问题与补修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7" y="3410712"/>
            <a:ext cx="49834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7" y="3410712"/>
            <a:ext cx="50292" cy="1481328"/>
          </a:xfrm>
          <a:prstGeom prst="rect">
            <a:avLst/>
          </a:prstGeom>
          <a:solidFill>
            <a:srgbClr val="74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3" y="3575304"/>
            <a:ext cx="459943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共同沉淀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3968496"/>
            <a:ext cx="4599432" cy="7955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维护技术文档、演示路径和答辩材料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59552"/>
            <a:ext cx="1014984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550" b="1">
                <a:solidFill>
                  <a:srgbClr val="1D365C"/>
                </a:solidFill>
                <a:latin typeface="Microsoft YaHei"/>
              </a:rPr>
              <a:t>团队收获：从完成页面，到关注数据真实性、系统边界与可验证工程质量。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迭代与验证：六轮持续将核心页面真实化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以可验证的用户路径为主线，逐步替换静态 Mock 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01568" cy="12527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0292" cy="1252728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58191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Round 01 · 认证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301752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登录、JWT、会话恢复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417320"/>
            <a:ext cx="3401568" cy="12527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417320"/>
            <a:ext cx="50292" cy="125272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58191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Round 02 · 课程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1975104"/>
            <a:ext cx="301752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真实列表与创建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1417320"/>
            <a:ext cx="3401568" cy="12527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4" y="1417320"/>
            <a:ext cx="50292" cy="1252728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58191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Round 03 · 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75104"/>
            <a:ext cx="301752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上传、异步与状态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08960"/>
            <a:ext cx="3401568" cy="12527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08960"/>
            <a:ext cx="50292" cy="1252728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2735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Round 04 ·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3666744"/>
            <a:ext cx="301752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会话、引用、持久化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3712" y="3108960"/>
            <a:ext cx="3401568" cy="12527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53712" y="3108960"/>
            <a:ext cx="50292" cy="125272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2735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Round 05 · 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666744"/>
            <a:ext cx="301752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确认、任务、掌握度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75904" y="3108960"/>
            <a:ext cx="3401568" cy="125272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75904" y="3108960"/>
            <a:ext cx="50292" cy="1252728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273552"/>
            <a:ext cx="301752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Round 06 · 首页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66744"/>
            <a:ext cx="301752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真实聚合与趋势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4873752"/>
            <a:ext cx="1024128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" y="4873752"/>
            <a:ext cx="50292" cy="768096"/>
          </a:xfrm>
          <a:prstGeom prst="rect">
            <a:avLst/>
          </a:prstGeom>
          <a:solidFill>
            <a:srgbClr val="7461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2144" y="5038344"/>
            <a:ext cx="985723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阶段验证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" y="5431536"/>
            <a:ext cx="9857232" cy="82295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项目状态文档记录：Round 06 时前端构建通过，完整后端测试为 26 项通过；答辩前将重新执行回归验证。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阶段性反思与下一步方向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清晰区分已完成能力和后续规划，是项目可信度的重要部分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50292" cy="3401568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581912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当前边界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1975104"/>
            <a:ext cx="4690872" cy="2715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• 默认使用 Mock LLM Provider，真实外部模型仍待完整联调
• PDF/PPT/Word 的端到端验证需继续增强
• 推荐、练习、统计等部分页面仍有 Mock 内容
• 前端 E2E 回归体系尚未纳入仓库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417320"/>
            <a:ext cx="507492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417320"/>
            <a:ext cx="50292" cy="340156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581912"/>
            <a:ext cx="469087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下一步计划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1975104"/>
            <a:ext cx="4690872" cy="2715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• 完成课程详情、推荐、任务中心和统计真实化
• 联调真实 Chat 与 Embedding Provider
• 增加 Playwright E2E 和 CI 回归
• 完善动态计划、练习错题与日历同步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559552"/>
            <a:ext cx="1019556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550" b="1">
                <a:solidFill>
                  <a:srgbClr val="1D365C"/>
                </a:solidFill>
                <a:latin typeface="Microsoft YaHei"/>
              </a:rPr>
              <a:t>不夸大当前能力，优先完成真实主链路与可复现验证。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2500" b="1">
                <a:solidFill>
                  <a:srgbClr val="1D365C"/>
                </a:solidFill>
                <a:latin typeface="Microsoft YaHei"/>
              </a:rPr>
              <a:t>现场演示路径：用一条真实数据链路证明系统能力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答辩时建议优先展示已稳定验证的核心闭环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94360" cy="32004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758952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800" b="0">
                <a:solidFill>
                  <a:srgbClr val="6C7B94"/>
                </a:solidFill>
                <a:latin typeface="Microsoft YaHei"/>
              </a:rPr>
              <a:t>智能学习助手 StudyPilot · 企业实训课程项目答辩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9648" y="65196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r"/>
            <a:r>
              <a:rPr sz="800" b="0">
                <a:solidFill>
                  <a:srgbClr val="6C7B94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755648"/>
            <a:ext cx="2395728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注册/登录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755648"/>
            <a:ext cx="2395728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创建课程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1755648"/>
            <a:ext cx="2395728" cy="548640"/>
          </a:xfrm>
          <a:prstGeom prst="roundRect">
            <a:avLst/>
          </a:prstGeom>
          <a:solidFill>
            <a:srgbClr val="D98440"/>
          </a:solidFill>
          <a:ln>
            <a:solidFill>
              <a:srgbClr val="D98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上传资料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3728" y="1755648"/>
            <a:ext cx="2395728" cy="548640"/>
          </a:xfrm>
          <a:prstGeom prst="roundRect">
            <a:avLst/>
          </a:prstGeom>
          <a:solidFill>
            <a:srgbClr val="7461AB"/>
          </a:solidFill>
          <a:ln>
            <a:solidFill>
              <a:srgbClr val="74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等待处理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990088"/>
            <a:ext cx="2395728" cy="548640"/>
          </a:xfrm>
          <a:prstGeom prst="roundRect">
            <a:avLst/>
          </a:prstGeom>
          <a:solidFill>
            <a:srgbClr val="4869B5"/>
          </a:solidFill>
          <a:ln>
            <a:solidFill>
              <a:srgbClr val="48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RAG 提问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990088"/>
            <a:ext cx="2395728" cy="548640"/>
          </a:xfrm>
          <a:prstGeom prst="roundRect">
            <a:avLst/>
          </a:prstGeom>
          <a:solidFill>
            <a:srgbClr val="248E80"/>
          </a:solidFill>
          <a:ln>
            <a:solidFill>
              <a:srgbClr val="24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确认计划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2990088"/>
            <a:ext cx="2395728" cy="548640"/>
          </a:xfrm>
          <a:prstGeom prst="roundRect">
            <a:avLst/>
          </a:prstGeom>
          <a:solidFill>
            <a:srgbClr val="D98440"/>
          </a:solidFill>
          <a:ln>
            <a:solidFill>
              <a:srgbClr val="D98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完成任务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2990088"/>
            <a:ext cx="2395728" cy="548640"/>
          </a:xfrm>
          <a:prstGeom prst="roundRect">
            <a:avLst/>
          </a:prstGeom>
          <a:solidFill>
            <a:srgbClr val="7461AB"/>
          </a:solidFill>
          <a:ln>
            <a:solidFill>
              <a:srgbClr val="74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首页反馈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28700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1600" b="1">
                <a:solidFill>
                  <a:srgbClr val="1D365C"/>
                </a:solidFill>
                <a:latin typeface="Microsoft YaHei"/>
              </a:rPr>
              <a:t>答辩关注点：资料如何检索？任务如何异步处理？引用如何可信？计划如何生效？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212080"/>
            <a:ext cx="8549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50292" cy="65836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48256" y="5376672"/>
            <a:ext cx="81655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200" b="1">
                <a:solidFill>
                  <a:srgbClr val="1D365C"/>
                </a:solidFill>
                <a:latin typeface="Microsoft YaHei"/>
              </a:rPr>
              <a:t>演示策略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8256" y="5769864"/>
            <a:ext cx="8165592" cy="-2743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优先使用本地 Docker 环境和已验证的 Mock Provider，避免外部网络、模型密钥或额度影响答辩稳定性。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149840" cy="502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3100" b="1">
                <a:solidFill>
                  <a:srgbClr val="1D365C"/>
                </a:solidFill>
                <a:latin typeface="Microsoft YaHei"/>
              </a:rPr>
              <a:t>从静态原型到真实学习闭环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149840" cy="411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700" b="0">
                <a:solidFill>
                  <a:srgbClr val="6C7B94"/>
                </a:solidFill>
                <a:latin typeface="Microsoft YaHei"/>
              </a:rPr>
              <a:t>项目的核心价值，是把资料、问答、计划、任务和反馈连接为可验证的数据流。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50292" cy="1417320"/>
          </a:xfrm>
          <a:prstGeom prst="rect">
            <a:avLst/>
          </a:prstGeom>
          <a:solidFill>
            <a:srgbClr val="48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3410712"/>
            <a:ext cx="29077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真实闭环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803904"/>
            <a:ext cx="2907792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核心用户路径已接入真实数据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3246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53712" y="3246120"/>
            <a:ext cx="50292" cy="1417320"/>
          </a:xfrm>
          <a:prstGeom prst="rect">
            <a:avLst/>
          </a:prstGeom>
          <a:solidFill>
            <a:srgbClr val="248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3410712"/>
            <a:ext cx="29077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工程实践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803904"/>
            <a:ext cx="2907792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异步处理、权限、幂等和容器化部署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32461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3246120"/>
            <a:ext cx="50292" cy="1417320"/>
          </a:xfrm>
          <a:prstGeom prst="rect">
            <a:avLst/>
          </a:prstGeom>
          <a:solidFill>
            <a:srgbClr val="D98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410712"/>
            <a:ext cx="2907792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300" b="1">
                <a:solidFill>
                  <a:srgbClr val="1D365C"/>
                </a:solidFill>
                <a:latin typeface="Microsoft YaHei"/>
              </a:rPr>
              <a:t>持续迭代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03904"/>
            <a:ext cx="2907792" cy="7315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l"/>
            <a:r>
              <a:rPr sz="1050" b="0">
                <a:solidFill>
                  <a:srgbClr val="6C7B94"/>
                </a:solidFill>
                <a:latin typeface="Microsoft YaHei"/>
              </a:rPr>
              <a:t>明确边界并围绕用户路径完善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7568"/>
            <a:ext cx="104698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/>
            <a:r>
              <a:rPr sz="2200" b="1">
                <a:solidFill>
                  <a:srgbClr val="1D365C"/>
                </a:solidFill>
                <a:latin typeface="Microsoft YaHei"/>
              </a:rPr>
              <a:t>谢谢聆听，欢迎老师提问与指导。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