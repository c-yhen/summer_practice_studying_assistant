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tags" Target="../tags/tag1.xml"/><Relationship Id="rId4" Type="http://schemas.openxmlformats.org/officeDocument/2006/relationships/tags" Target="../tags/tag2.xml"/><Relationship Id="rId5" Type="http://schemas.openxmlformats.org/officeDocument/2006/relationships/tags" Target="../tags/tag3.xml"/><Relationship Id="rId6" Type="http://schemas.openxmlformats.org/officeDocument/2006/relationships/tags" Target="../tags/tag4.xml"/><Relationship Id="rId7" Type="http://schemas.openxmlformats.org/officeDocument/2006/relationships/tags" Target="../tags/tag5.xml"/><Relationship Id="rId8" Type="http://schemas.openxmlformats.org/officeDocument/2006/relationships/tags" Target="../tags/tag6.xml"/><Relationship Id="rId9" Type="http://schemas.openxmlformats.org/officeDocument/2006/relationships/tags" Target="../tags/tag7.xml"/><Relationship Id="rId10" Type="http://schemas.openxmlformats.org/officeDocument/2006/relationships/tags" Target="../tags/tag8.xml"/><Relationship Id="rId11" Type="http://schemas.openxmlformats.org/officeDocument/2006/relationships/tags" Target="../tags/tag9.xml"/><Relationship Id="rId12" Type="http://schemas.openxmlformats.org/officeDocument/2006/relationships/tags" Target="../tags/tag10.xml"/><Relationship Id="rId13" Type="http://schemas.openxmlformats.org/officeDocument/2006/relationships/tags" Target="../tags/tag11.xml"/><Relationship Id="rId14" Type="http://schemas.openxmlformats.org/officeDocument/2006/relationships/tags" Target="../tags/tag12.xml"/><Relationship Id="rId15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66928"/>
            <a:ext cx="109728" cy="5166360"/>
          </a:xfrm>
          <a:prstGeom prst="roundRect">
            <a:avLst>
              <a:gd name="adj" fmla="val 12000"/>
            </a:avLst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658368"/>
            <a:ext cx="1508760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708660"/>
            <a:ext cx="150876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企业实训课程答辩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261872"/>
            <a:ext cx="667512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智能学习助手 StudyPilot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865376"/>
            <a:ext cx="658368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6659E8"/>
                </a:solidFill>
                <a:latin typeface="微软雅黑" panose="020B0503020204020204" charset="-122"/>
              </a:defRPr>
            </a:pPr>
            <a:r>
              <a:t>从“能用的功能集合”升级为“可引导、可持续的学习闭环”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04288"/>
            <a:ext cx="658368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围绕课程资料、学习计划、练习反馈与学习进展，构建面向学生的个性化学习空间。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703320"/>
            <a:ext cx="190195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3831336"/>
            <a:ext cx="155448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8994AA"/>
                </a:solidFill>
                <a:latin typeface="微软雅黑" panose="020B0503020204020204" charset="-122"/>
              </a:defRPr>
            </a:pPr>
            <a:r>
              <a:t>成员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4041648"/>
            <a:ext cx="1019810" cy="130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rPr lang="zh-CN"/>
              <a:t>李云开</a:t>
            </a:r>
            <a:r>
              <a:t>/ </a:t>
            </a:r>
            <a:r>
              <a:rPr lang="zh-CN"/>
              <a:t>于晨</a:t>
            </a:r>
            <a:r>
              <a:t>/ </a:t>
            </a:r>
            <a:r>
              <a:rPr lang="zh-CN"/>
              <a:t>李止</a:t>
            </a:r>
            <a:r>
              <a:rPr lang="zh-CN"/>
              <a:t>峰</a:t>
            </a:r>
            <a:endParaRPr lang="zh-CN"/>
          </a:p>
        </p:txBody>
      </p:sp>
      <p:sp>
        <p:nvSpPr>
          <p:cNvPr id="13" name="Rounded Rectangle 12"/>
          <p:cNvSpPr/>
          <p:nvPr/>
        </p:nvSpPr>
        <p:spPr>
          <a:xfrm>
            <a:off x="2990088" y="3703320"/>
            <a:ext cx="190195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27248" y="3831336"/>
            <a:ext cx="155448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8994AA"/>
                </a:solidFill>
                <a:latin typeface="微软雅黑" panose="020B0503020204020204" charset="-122"/>
              </a:defRPr>
            </a:pPr>
            <a:r>
              <a:t>指导教师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248" y="4041648"/>
            <a:ext cx="215900" cy="130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rPr lang="zh-CN"/>
              <a:t>吴</a:t>
            </a:r>
            <a:r>
              <a:rPr lang="zh-CN"/>
              <a:t>迪</a:t>
            </a:r>
            <a:endParaRPr lang="zh-CN"/>
          </a:p>
        </p:txBody>
      </p:sp>
      <p:sp>
        <p:nvSpPr>
          <p:cNvPr id="16" name="Rounded Rectangle 15"/>
          <p:cNvSpPr/>
          <p:nvPr/>
        </p:nvSpPr>
        <p:spPr>
          <a:xfrm>
            <a:off x="5138928" y="3703320"/>
            <a:ext cx="190195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76088" y="3831336"/>
            <a:ext cx="155448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8994AA"/>
                </a:solidFill>
                <a:latin typeface="微软雅黑" panose="020B0503020204020204" charset="-122"/>
              </a:defRPr>
            </a:pPr>
            <a:r>
              <a:t>汇报日期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4041648"/>
            <a:ext cx="496570" cy="130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rPr lang="en-US"/>
              <a:t>2026.7.30</a:t>
            </a:r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8366760" y="566928"/>
            <a:ext cx="3063240" cy="5440680"/>
          </a:xfrm>
          <a:prstGeom prst="roundRect">
            <a:avLst>
              <a:gd name="adj" fmla="val 12000"/>
            </a:avLst>
          </a:prstGeom>
          <a:solidFill>
            <a:srgbClr val="101B39"/>
          </a:solidFill>
          <a:ln>
            <a:solidFill>
              <a:srgbClr val="101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1060704"/>
            <a:ext cx="23774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StudyPilot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554480"/>
            <a:ext cx="2286000" cy="7132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AFA9FF"/>
                </a:solidFill>
                <a:latin typeface="微软雅黑" panose="020B0503020204020204" charset="-122"/>
              </a:defRPr>
            </a:pPr>
            <a:r>
              <a:t>LEARNING</a:t>
            </a:r>
            <a:br/>
            <a:r>
              <a:t>WORKSPACE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880360"/>
            <a:ext cx="21945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D8DDF1"/>
                </a:solidFill>
                <a:latin typeface="微软雅黑" panose="020B0503020204020204" charset="-122"/>
              </a:defRPr>
            </a:pPr>
            <a:r>
              <a:t>资料  ·  问答  ·  计划</a:t>
            </a:r>
            <a:br/>
            <a:r>
              <a:t>练习  ·  反馈  ·  进展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3703320"/>
            <a:ext cx="2057400" cy="36576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3913632"/>
            <a:ext cx="219456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8F9BBB"/>
                </a:solidFill>
                <a:latin typeface="微软雅黑" panose="020B0503020204020204" charset="-122"/>
              </a:defRPr>
            </a:pPr>
            <a:r>
              <a:t>CURRENT PRODUCT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项目定位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90525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本轮重新定义答辩主线：让学生“知道下一步做什么”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607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新版界面不只是视觉更新，而是将已有能力组织成更清晰的学习路径。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7432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411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83080"/>
            <a:ext cx="356616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783080"/>
            <a:ext cx="41148" cy="1325880"/>
          </a:xfrm>
          <a:prstGeom prst="rect">
            <a:avLst/>
          </a:prstGeom>
          <a:solidFill>
            <a:srgbClr val="EE9B51"/>
          </a:solidFill>
          <a:ln>
            <a:solidFill>
              <a:srgbClr val="EE9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47672"/>
            <a:ext cx="32186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过去：功能入口分散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258568"/>
            <a:ext cx="3200400" cy="7223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课程、资料、问答、计划、练习均已具备，但初次使用者难以判断正确的开始顺序。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783080"/>
            <a:ext cx="356616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783080"/>
            <a:ext cx="41148" cy="1325880"/>
          </a:xfrm>
          <a:prstGeom prst="rect">
            <a:avLst/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1947672"/>
            <a:ext cx="32186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现在：学习首页作为控制台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258568"/>
            <a:ext cx="3200400" cy="7223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聚合当前课程、今日任务、任务进度、薄弱点、趋势与下一步建议。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1783080"/>
            <a:ext cx="356616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8" y="1783080"/>
            <a:ext cx="41148" cy="1325880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1947672"/>
            <a:ext cx="32186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新增：新手引导衔接真实动作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2258568"/>
            <a:ext cx="3200400" cy="7223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欢迎页、5 步导航与可恢复的新手任务，直接连到真实课程和资料流程。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703320"/>
            <a:ext cx="10972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659E8"/>
                </a:solidFill>
                <a:latin typeface="微软雅黑" panose="020B0503020204020204" charset="-122"/>
              </a:defRPr>
            </a:pPr>
            <a:r>
              <a:t>核心叙事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114800"/>
            <a:ext cx="1088136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进入系统  →  创建课程  →  上传资料  →  提问/生成计划  →  练习反馈  →  继续学习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25880" y="4983480"/>
            <a:ext cx="246888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5175504"/>
            <a:ext cx="246888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降低首次使用成本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4983480"/>
            <a:ext cx="2468880" cy="530352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5175504"/>
            <a:ext cx="246888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6659E8"/>
                </a:solidFill>
                <a:latin typeface="微软雅黑" panose="020B0503020204020204" charset="-122"/>
              </a:defRPr>
            </a:pPr>
            <a:r>
              <a:t>让数据回到学习行动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4983480"/>
            <a:ext cx="246888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79" y="5175504"/>
            <a:ext cx="246888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以真实记录驱动推荐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产品设计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90525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从首次进入到持续学习：新版学习闭环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607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以学习者动作而非技术模块组织页面，减少“有功能但不会用”的断点。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7432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411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40280"/>
            <a:ext cx="1938528" cy="21214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450592"/>
            <a:ext cx="347472" cy="347472"/>
          </a:xfrm>
          <a:prstGeom prst="roundRect">
            <a:avLst>
              <a:gd name="adj" fmla="val 12000"/>
            </a:avLst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51176"/>
            <a:ext cx="347472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1752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欢迎与导览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01568"/>
            <a:ext cx="15544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2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明确课程、资料、问答、计划、练习五个入口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2" y="3054096"/>
            <a:ext cx="2743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A0A9BB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39" y="2240280"/>
            <a:ext cx="1938528" cy="21214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17519" y="2450592"/>
            <a:ext cx="347472" cy="347472"/>
          </a:xfrm>
          <a:prstGeom prst="roundRect">
            <a:avLst>
              <a:gd name="adj" fmla="val 12000"/>
            </a:avLst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19" y="2551176"/>
            <a:ext cx="347472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19" y="301752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课程空间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19" y="3401568"/>
            <a:ext cx="15544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2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承载目标、资料和学习记录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1" y="3054096"/>
            <a:ext cx="2743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A0A9BB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66359" y="2240280"/>
            <a:ext cx="1938528" cy="21214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349239" y="2450592"/>
            <a:ext cx="347472" cy="347472"/>
          </a:xfrm>
          <a:prstGeom prst="roundRect">
            <a:avLst>
              <a:gd name="adj" fmla="val 12000"/>
            </a:avLst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9239" y="2551176"/>
            <a:ext cx="347472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39" y="301752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今日学习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39" y="3401568"/>
            <a:ext cx="15544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2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将候选计划转为可执行任务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9751" y="3054096"/>
            <a:ext cx="2743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A0A9BB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2240280"/>
            <a:ext cx="1938528" cy="21214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80959" y="2450592"/>
            <a:ext cx="347472" cy="347472"/>
          </a:xfrm>
          <a:prstGeom prst="roundRect">
            <a:avLst>
              <a:gd name="adj" fmla="val 12000"/>
            </a:avLst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59" y="2551176"/>
            <a:ext cx="347472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59" y="301752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反馈与调整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59" y="3401568"/>
            <a:ext cx="15544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2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练习、错题、掌握度、推荐回流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91471" y="3054096"/>
            <a:ext cx="2743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A0A9BB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29800" y="2240280"/>
            <a:ext cx="1938528" cy="21214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012680" y="2450592"/>
            <a:ext cx="347472" cy="347472"/>
          </a:xfrm>
          <a:prstGeom prst="roundRect">
            <a:avLst>
              <a:gd name="adj" fmla="val 12000"/>
            </a:avLst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12680" y="2551176"/>
            <a:ext cx="347472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301752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统计与复盘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80" y="3401568"/>
            <a:ext cx="15544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2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用趋势、日历和周报观察节奏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0749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536079"/>
                </a:solidFill>
                <a:latin typeface="微软雅黑" panose="020B0503020204020204" charset="-122"/>
              </a:defRPr>
            </a:pPr>
            <a:r>
              <a:t>设计原则：每一个“下一步”都指向真实的页面与可持久化的学习状态，不用静态演示文案替代功能。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Microsoft YaHei"/>
              </a:defRPr>
            </a:pPr>
            <a:r>
              <a:t>界面升级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107899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16213D"/>
                </a:solidFill>
                <a:latin typeface="Microsoft YaHei"/>
              </a:defRPr>
            </a:pPr>
            <a:r>
              <a:t>新增新手引导：把“第一次使用”变成可完成的学习任务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789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880" b="0">
                <a:solidFill>
                  <a:srgbClr val="66718A"/>
                </a:solidFill>
                <a:latin typeface="Microsoft YaHei"/>
              </a:defRPr>
            </a:pPr>
            <a:r>
              <a:t>引导状态随用户偏好持久化；可跳过、可完成，也可在设置页重新打开。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92608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Microsoft YaHei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37376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36776"/>
            <a:ext cx="6958584" cy="4553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rcRect b="55463"/>
          <a:stretch>
            <a:fillRect/>
          </a:stretch>
        </p:blipFill>
        <p:spPr>
          <a:xfrm>
            <a:off x="594360" y="1664208"/>
            <a:ext cx="6903720" cy="449884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818120" y="1682496"/>
            <a:ext cx="3611880" cy="1060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1682496"/>
            <a:ext cx="41148" cy="1060704"/>
          </a:xfrm>
          <a:prstGeom prst="rect">
            <a:avLst/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9288" y="1847088"/>
            <a:ext cx="3291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Microsoft YaHei"/>
              </a:defRPr>
            </a:pPr>
            <a:r>
              <a:t>欢迎页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9288" y="2157984"/>
            <a:ext cx="3264408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860" b="0">
                <a:solidFill>
                  <a:srgbClr val="66718A"/>
                </a:solidFill>
                <a:latin typeface="Microsoft YaHei"/>
              </a:defRPr>
            </a:pPr>
            <a:r>
              <a:t>首次登录展示；不强迫用户立即操作，可自行开始导览或暂时跳过。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2898648"/>
            <a:ext cx="3611880" cy="1060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18120" y="2898648"/>
            <a:ext cx="41148" cy="1060704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9288" y="3063240"/>
            <a:ext cx="3291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Microsoft YaHei"/>
              </a:defRPr>
            </a:pPr>
            <a:r>
              <a:t>五步路径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3374136"/>
            <a:ext cx="3264408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860" b="0">
                <a:solidFill>
                  <a:srgbClr val="66718A"/>
                </a:solidFill>
                <a:latin typeface="Microsoft YaHei"/>
              </a:defRPr>
            </a:pPr>
            <a:r>
              <a:t>课程 → 资料 → 问答 → 计划 → 练习；每一步对应真实页面入口。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4114800"/>
            <a:ext cx="3611880" cy="1060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4114800"/>
            <a:ext cx="41148" cy="1060704"/>
          </a:xfrm>
          <a:prstGeom prst="rect">
            <a:avLst/>
          </a:prstGeom>
          <a:solidFill>
            <a:srgbClr val="EE9B51"/>
          </a:solidFill>
          <a:ln>
            <a:solidFill>
              <a:srgbClr val="EE9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9288" y="4279392"/>
            <a:ext cx="3291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Microsoft YaHei"/>
              </a:defRPr>
            </a:pPr>
            <a:r>
              <a:t>首页任务清单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9288" y="4590288"/>
            <a:ext cx="3264408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860" b="0">
                <a:solidFill>
                  <a:srgbClr val="66718A"/>
                </a:solidFill>
                <a:latin typeface="Microsoft YaHei"/>
              </a:defRPr>
            </a:pPr>
            <a:r>
              <a:t>0–5/5 进度由真实学习行为计算，点击可直接进入下一项操作。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236208"/>
            <a:ext cx="1078992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66718A"/>
                </a:solidFill>
                <a:latin typeface="Microsoft YaHei"/>
              </a:defRPr>
            </a:pPr>
            <a:r>
              <a:t>截图展示首次用户的引导状态；右侧保留产品设计要点，避免信息与界面互相抢占。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Microsoft YaHei"/>
              </a:defRPr>
            </a:pPr>
            <a:r>
              <a:t>界面升级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107899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16213D"/>
                </a:solidFill>
                <a:latin typeface="Microsoft YaHei"/>
              </a:defRPr>
            </a:pPr>
            <a:r>
              <a:t>新版学习首页：以“当前课程”组织所有行动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789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880" b="0">
                <a:solidFill>
                  <a:srgbClr val="66718A"/>
                </a:solidFill>
                <a:latin typeface="Microsoft YaHei"/>
              </a:defRPr>
            </a:pPr>
            <a:r>
              <a:t>当前课程、今日任务、学习趋势、薄弱点与下一步建议被整合到同一决策页面。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92608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Microsoft YaHei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37376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36776"/>
            <a:ext cx="7050024" cy="4553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rcRect b="56046"/>
          <a:stretch>
            <a:fillRect/>
          </a:stretch>
        </p:blipFill>
        <p:spPr>
          <a:xfrm>
            <a:off x="594360" y="1664208"/>
            <a:ext cx="6995160" cy="449884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882127" y="1700784"/>
            <a:ext cx="3547872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82127" y="1700784"/>
            <a:ext cx="41148" cy="1115568"/>
          </a:xfrm>
          <a:prstGeom prst="rect">
            <a:avLst/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83295" y="1865376"/>
            <a:ext cx="322783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Microsoft YaHei"/>
              </a:defRPr>
            </a:pPr>
            <a:r>
              <a:t>当前课程指挥台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5" y="2176272"/>
            <a:ext cx="320040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860" b="0">
                <a:solidFill>
                  <a:srgbClr val="66718A"/>
                </a:solidFill>
                <a:latin typeface="Microsoft YaHei"/>
              </a:defRPr>
            </a:pPr>
            <a:r>
              <a:t>展示今日完成度、考试倒计时与继续学习入口，避免学生在多个页面间寻找任务。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2980944"/>
            <a:ext cx="3547872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82127" y="2980944"/>
            <a:ext cx="41148" cy="1115568"/>
          </a:xfrm>
          <a:prstGeom prst="rect">
            <a:avLst/>
          </a:prstGeom>
          <a:solidFill>
            <a:srgbClr val="5D76E8"/>
          </a:solidFill>
          <a:ln>
            <a:solidFill>
              <a:srgbClr val="5D7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5" y="3145536"/>
            <a:ext cx="322783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Microsoft YaHei"/>
              </a:defRPr>
            </a:pPr>
            <a:r>
              <a:t>从课程空间承接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5" y="3456432"/>
            <a:ext cx="320040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860" b="0">
                <a:solidFill>
                  <a:srgbClr val="66718A"/>
                </a:solidFill>
                <a:latin typeface="Microsoft YaHei"/>
              </a:defRPr>
            </a:pPr>
            <a:r>
              <a:t>课程、资料、计划与记录始终归属同一课程；顶栏可快速切换上下文。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7" y="4261104"/>
            <a:ext cx="3547872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82127" y="4261104"/>
            <a:ext cx="41148" cy="1115568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5" y="4425696"/>
            <a:ext cx="322783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Microsoft YaHei"/>
              </a:defRPr>
            </a:pPr>
            <a:r>
              <a:t>自动汇总学习证据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5" y="4736592"/>
            <a:ext cx="320040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860" b="0">
                <a:solidFill>
                  <a:srgbClr val="66718A"/>
                </a:solidFill>
                <a:latin typeface="Microsoft YaHei"/>
              </a:defRPr>
            </a:pPr>
            <a:r>
              <a:t>任务完成、练习结果与资料状态回流首页，形成可持续的学习节奏。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236208"/>
            <a:ext cx="1078992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66718A"/>
                </a:solidFill>
                <a:latin typeface="Microsoft YaHei"/>
              </a:defRPr>
            </a:pPr>
            <a:r>
              <a:t>新版侧栏、课程切换与全局搜索共同承担导航；首页只保留“此刻应该做什么”。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核心能力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90525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资料进入系统后，成为可追溯的学习依据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607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资料解析、分块、向量检索与引用显示组成 RAG 闭环；在无法可靠回答时保留证据边界。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7432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411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783080"/>
            <a:ext cx="41148" cy="1143000"/>
          </a:xfrm>
          <a:prstGeom prst="rect">
            <a:avLst/>
          </a:prstGeom>
          <a:solidFill>
            <a:srgbClr val="5D76E8"/>
          </a:solidFill>
          <a:ln>
            <a:solidFill>
              <a:srgbClr val="5D7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947672"/>
            <a:ext cx="48188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上传与解析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258568"/>
            <a:ext cx="4800600" cy="5394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PDF、TXT、Markdown；OCR 兜底处理扫描件。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83080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783080"/>
            <a:ext cx="41148" cy="1143000"/>
          </a:xfrm>
          <a:prstGeom prst="rect">
            <a:avLst/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947672"/>
            <a:ext cx="48188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内容分块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258568"/>
            <a:ext cx="4800600" cy="5394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按结构切分、保存页码与来源，避免只保留“答案”。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91839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291839"/>
            <a:ext cx="41148" cy="1143000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456431"/>
            <a:ext cx="48188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混合检索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767327"/>
            <a:ext cx="4800600" cy="5394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向量相似度与词法评分共同召回相关片段。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291839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291839"/>
            <a:ext cx="41148" cy="1143000"/>
          </a:xfrm>
          <a:prstGeom prst="rect">
            <a:avLst/>
          </a:prstGeom>
          <a:solidFill>
            <a:srgbClr val="EE9B51"/>
          </a:solidFill>
          <a:ln>
            <a:solidFill>
              <a:srgbClr val="EE9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456431"/>
            <a:ext cx="48188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结构化输出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767327"/>
            <a:ext cx="4800600" cy="5394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回答附引用与证据；公式可使用 LaTeX 展示。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074920"/>
            <a:ext cx="10515600" cy="566928"/>
          </a:xfrm>
          <a:prstGeom prst="roundRect">
            <a:avLst>
              <a:gd name="adj" fmla="val 12000"/>
            </a:avLst>
          </a:prstGeom>
          <a:solidFill>
            <a:srgbClr val="EAF8F5"/>
          </a:solidFill>
          <a:ln>
            <a:solidFill>
              <a:srgbClr val="C8E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5285232"/>
            <a:ext cx="10058400" cy="1554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33776C"/>
                </a:solidFill>
                <a:latin typeface="微软雅黑" panose="020B0503020204020204" charset="-122"/>
              </a:defRPr>
            </a:pPr>
            <a:r>
              <a:t>答辩中应强调：RAG 不是“让模型看起来更聪明”，而是让回答能够回到课程资料、页码和原文证据。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智能规划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90525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计划生成：规则优先，AI 增强受控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607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学习计划不直接由模型“拍脑袋”生成：先满足真实知识点、前置关系、时间预算与并发幂等。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7432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411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342900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691640"/>
            <a:ext cx="41148" cy="1463040"/>
          </a:xfrm>
          <a:prstGeom prst="rect">
            <a:avLst/>
          </a:prstGeom>
          <a:solidFill>
            <a:srgbClr val="5D76E8"/>
          </a:solidFill>
          <a:ln>
            <a:solidFill>
              <a:srgbClr val="5D7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856232"/>
            <a:ext cx="30815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输入约束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167128"/>
            <a:ext cx="3063240" cy="8595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学习目标、考试日期、每日预算、学习偏好、真实知识点与历史掌握度。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691640"/>
            <a:ext cx="342900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1691640"/>
            <a:ext cx="41148" cy="1463040"/>
          </a:xfrm>
          <a:prstGeom prst="rect">
            <a:avLst/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856232"/>
            <a:ext cx="30815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规则引擎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167128"/>
            <a:ext cx="3063240" cy="8595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拓扑排序、优先级评分、容量分配，生成可核验的候选计划。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691640"/>
            <a:ext cx="342900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691640"/>
            <a:ext cx="41148" cy="1463040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856232"/>
            <a:ext cx="30815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受控 AI 增强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2167128"/>
            <a:ext cx="3063240" cy="8595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仅补充摘要与风险提示；结构化输出经校验，异常则安全降级。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867912"/>
            <a:ext cx="132588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6659E8"/>
                </a:solidFill>
                <a:latin typeface="微软雅黑" panose="020B0503020204020204" charset="-122"/>
              </a:defRPr>
            </a:pPr>
            <a:r>
              <a:t>候选计划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867912"/>
            <a:ext cx="132588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6659E8"/>
                </a:solidFill>
                <a:latin typeface="微软雅黑" panose="020B0503020204020204" charset="-122"/>
              </a:defRPr>
            </a:pPr>
            <a:r>
              <a:t>用户确认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867912"/>
            <a:ext cx="132588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6659E8"/>
                </a:solidFill>
                <a:latin typeface="微软雅黑" panose="020B0503020204020204" charset="-122"/>
              </a:defRPr>
            </a:pPr>
            <a:r>
              <a:t>今日任务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370832"/>
            <a:ext cx="9601200" cy="182880"/>
          </a:xfrm>
          <a:prstGeom prst="roundRect">
            <a:avLst>
              <a:gd name="adj" fmla="val 12000"/>
            </a:avLst>
          </a:prstGeom>
          <a:solidFill>
            <a:srgbClr val="E4E8F0"/>
          </a:solidFill>
          <a:ln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" y="4233672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5D76E8"/>
          </a:solidFill>
          <a:ln>
            <a:solidFill>
              <a:srgbClr val="5D7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120640" y="4233672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72600" y="4233672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074920"/>
            <a:ext cx="104241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可预览、可确认、可追溯；生成同一请求时保持幂等，避免重复创建学习任务。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学习反馈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90525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练习、错题与掌握度：让系统知道“下一次该帮什么”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607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练习题和任务完成记录沉淀为学习证据，而非只显示一次性的正确率。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7432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411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250545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74519"/>
            <a:ext cx="41148" cy="1417320"/>
          </a:xfrm>
          <a:prstGeom prst="rect">
            <a:avLst/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039111"/>
            <a:ext cx="2157984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来源练习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350007"/>
            <a:ext cx="2139696" cy="8138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优先围绕真实资料片段生成，记录题目与来源。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38728" y="1874519"/>
            <a:ext cx="250545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8728" y="1874519"/>
            <a:ext cx="41148" cy="1417320"/>
          </a:xfrm>
          <a:prstGeom prst="rect">
            <a:avLst/>
          </a:prstGeom>
          <a:solidFill>
            <a:srgbClr val="EE9B51"/>
          </a:solidFill>
          <a:ln>
            <a:solidFill>
              <a:srgbClr val="EE9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2039111"/>
            <a:ext cx="2157984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错题本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2350007"/>
            <a:ext cx="2139696" cy="8138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保存错误尝试，便于复习与后续定向练习。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656" y="1874519"/>
            <a:ext cx="250545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91656" y="1874519"/>
            <a:ext cx="41148" cy="1417320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92824" y="2039111"/>
            <a:ext cx="2157984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掌握度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2824" y="2350007"/>
            <a:ext cx="2139696" cy="8138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按知识点累计真实尝试与得分，不伪造薄弱点。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44584" y="1874519"/>
            <a:ext cx="250545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44584" y="1874519"/>
            <a:ext cx="41148" cy="1417320"/>
          </a:xfrm>
          <a:prstGeom prst="rect">
            <a:avLst/>
          </a:prstGeom>
          <a:solidFill>
            <a:srgbClr val="5D76E8"/>
          </a:solidFill>
          <a:ln>
            <a:solidFill>
              <a:srgbClr val="5D7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45752" y="2039111"/>
            <a:ext cx="2157984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推荐中心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5752" y="2350007"/>
            <a:ext cx="2139696" cy="8138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基于知识匹配、难度与进度解释推荐原因。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069080"/>
            <a:ext cx="10058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学习动作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4069080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659E8"/>
                </a:solidFill>
                <a:latin typeface="微软雅黑" panose="020B0503020204020204" charset="-122"/>
              </a:defRPr>
            </a:pPr>
            <a:r>
              <a:t>完成任务 / 提交练习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4050791"/>
            <a:ext cx="2743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4069080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更新掌握度与错题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050791"/>
            <a:ext cx="2743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069080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5D76E8"/>
                </a:solidFill>
                <a:latin typeface="微软雅黑" panose="020B0503020204020204" charset="-122"/>
              </a:defRPr>
            </a:pPr>
            <a:r>
              <a:t>更新计划与推荐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4050791"/>
            <a:ext cx="2743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4069080"/>
            <a:ext cx="15544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EE9B51"/>
                </a:solidFill>
                <a:latin typeface="微软雅黑" panose="020B0503020204020204" charset="-122"/>
              </a:defRPr>
            </a:pPr>
            <a:r>
              <a:t>回到今日学习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Microsoft YaHei"/>
              </a:defRPr>
            </a:pPr>
            <a:r>
              <a:t>界面升级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107899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16213D"/>
                </a:solidFill>
                <a:latin typeface="Microsoft YaHei"/>
              </a:defRPr>
            </a:pPr>
            <a:r>
              <a:t>学习日历与学习统计：补全“安排—执行—复盘”体验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789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880" b="0">
                <a:solidFill>
                  <a:srgbClr val="66718A"/>
                </a:solidFill>
                <a:latin typeface="Microsoft YaHei"/>
              </a:defRPr>
            </a:pPr>
            <a:r>
              <a:t>日历负责把计划看得见、导得出；统计负责把完成记录转化为趋势与复盘依据。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92608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Microsoft YaHei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37376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36776"/>
            <a:ext cx="5376672" cy="3639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rcRect l="2366" r="2366"/>
          <a:stretch>
            <a:fillRect/>
          </a:stretch>
        </p:blipFill>
        <p:spPr>
          <a:xfrm>
            <a:off x="594360" y="1664208"/>
            <a:ext cx="5321808" cy="358444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27064" y="1636776"/>
            <a:ext cx="5376672" cy="3639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rcRect b="36732"/>
          <a:stretch>
            <a:fillRect/>
          </a:stretch>
        </p:blipFill>
        <p:spPr>
          <a:xfrm>
            <a:off x="6254496" y="1664208"/>
            <a:ext cx="5321808" cy="35844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4360" y="5413248"/>
            <a:ext cx="532180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16213D"/>
                </a:solidFill>
                <a:latin typeface="Microsoft YaHei"/>
              </a:defRPr>
            </a:pPr>
            <a:r>
              <a:t>学习日历：周视图、计划同步预览、ICS 导出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5413248"/>
            <a:ext cx="532180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16213D"/>
                </a:solidFill>
                <a:latin typeface="Microsoft YaHei"/>
              </a:defRPr>
            </a:pPr>
            <a:r>
              <a:t>学习统计：趋势、完成率、课程分布与周报导出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742432"/>
            <a:ext cx="10698480" cy="393192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>
            <a:solidFill>
              <a:srgbClr val="D8D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861304"/>
            <a:ext cx="1033272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  <a:defRPr sz="880" b="1">
                <a:solidFill>
                  <a:srgbClr val="6659E8"/>
                </a:solidFill>
                <a:latin typeface="Microsoft YaHei"/>
              </a:defRPr>
            </a:pPr>
            <a:r>
              <a:t>个人设置支持学习偏好、时区及“重新查看新手引导”；它影响后续候选计划，不改写已有计划。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工程架构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90525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实际技术架构：分层而非“把所有能力堆到页面上”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607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本项目使用真实的前后端、任务队列和数据服务，关键能力均以独立边界组织。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7432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411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11096"/>
            <a:ext cx="1920240" cy="1554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前端应用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691640"/>
            <a:ext cx="813816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1911096"/>
            <a:ext cx="7498079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Vue 3 · TypeScript · Vite · Element Plus · Pinia · ECharts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5176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5D76E8"/>
          </a:solidFill>
          <a:ln>
            <a:solidFill>
              <a:srgbClr val="5D7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71216"/>
            <a:ext cx="1920240" cy="1554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业务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2651760"/>
            <a:ext cx="813816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80" y="2871216"/>
            <a:ext cx="7498079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FastAPI · Pydantic · SQLAlchemy · JWT · WebSocket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1188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31336"/>
            <a:ext cx="1920240" cy="1554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智能与任务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3611880"/>
            <a:ext cx="813816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3831336"/>
            <a:ext cx="7498079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RAG 服务 · 计划/推荐引擎 · Celery 异步任务 · Provider 抽象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57200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EE9B51"/>
          </a:solidFill>
          <a:ln>
            <a:solidFill>
              <a:srgbClr val="EE9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791456"/>
            <a:ext cx="1920240" cy="1554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数据服务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80360" y="4572000"/>
            <a:ext cx="813816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54680" y="4791456"/>
            <a:ext cx="7498079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PostgreSQL · pgvector · Redis · 文件存储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760720"/>
            <a:ext cx="10424160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950" b="1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MCP Server 作为受控工具入口：高风险写操作采用“预览—确认—执行”与审计记录，而非直接执行。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部署与协作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90525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Docker 将完整开发环境固化为可复现的服务组合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607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容器化不是 PPT 中的名词：项目通过 Compose 编排依赖、健康检查、卷与网络。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7432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411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1874519" cy="1234440"/>
          </a:xfrm>
          <a:prstGeom prst="roundRect">
            <a:avLst>
              <a:gd name="adj" fmla="val 12000"/>
            </a:avLst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49424"/>
            <a:ext cx="1874519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1874519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850" b="0">
                <a:solidFill>
                  <a:srgbClr val="E6E9FF"/>
                </a:solidFill>
                <a:latin typeface="微软雅黑" panose="020B0503020204020204" charset="-122"/>
              </a:defRPr>
            </a:pPr>
            <a:r>
              <a:t>Nginx 承载构建产物</a:t>
            </a:r>
            <a:br/>
            <a:r>
              <a:t>8080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423160"/>
            <a:ext cx="2286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1965960"/>
            <a:ext cx="1874519" cy="1234440"/>
          </a:xfrm>
          <a:prstGeom prst="roundRect">
            <a:avLst>
              <a:gd name="adj" fmla="val 12000"/>
            </a:avLst>
          </a:prstGeom>
          <a:solidFill>
            <a:srgbClr val="5D76E8"/>
          </a:solidFill>
          <a:ln>
            <a:solidFill>
              <a:srgbClr val="5D7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2249424"/>
            <a:ext cx="1874519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560320"/>
            <a:ext cx="1874519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850" b="0">
                <a:solidFill>
                  <a:srgbClr val="E6E9FF"/>
                </a:solidFill>
                <a:latin typeface="微软雅黑" panose="020B0503020204020204" charset="-122"/>
              </a:defRPr>
            </a:pPr>
            <a:r>
              <a:t>FastAPI API</a:t>
            </a:r>
            <a:br/>
            <a:r>
              <a:t>8000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423160"/>
            <a:ext cx="2286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1965960"/>
            <a:ext cx="1874519" cy="1234440"/>
          </a:xfrm>
          <a:prstGeom prst="roundRect">
            <a:avLst>
              <a:gd name="adj" fmla="val 12000"/>
            </a:avLst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2249424"/>
            <a:ext cx="1874519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worker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560320"/>
            <a:ext cx="1874519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850" b="0">
                <a:solidFill>
                  <a:srgbClr val="E6E9FF"/>
                </a:solidFill>
                <a:latin typeface="微软雅黑" panose="020B0503020204020204" charset="-122"/>
              </a:defRPr>
            </a:pPr>
            <a:r>
              <a:t>Celery Worker</a:t>
            </a:r>
            <a:br/>
            <a:r>
              <a:t>异步处理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423160"/>
            <a:ext cx="2286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1965960"/>
            <a:ext cx="1874519" cy="1234440"/>
          </a:xfrm>
          <a:prstGeom prst="roundRect">
            <a:avLst>
              <a:gd name="adj" fmla="val 12000"/>
            </a:avLst>
          </a:prstGeom>
          <a:solidFill>
            <a:srgbClr val="EE9B51"/>
          </a:solidFill>
          <a:ln>
            <a:solidFill>
              <a:srgbClr val="EE9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2249424"/>
            <a:ext cx="1874519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postgres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560320"/>
            <a:ext cx="1874519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850" b="0">
                <a:solidFill>
                  <a:srgbClr val="E6E9FF"/>
                </a:solidFill>
                <a:latin typeface="微软雅黑" panose="020B0503020204020204" charset="-122"/>
              </a:defRPr>
            </a:pPr>
            <a:r>
              <a:t>PostgreSQL + pgvector</a:t>
            </a:r>
            <a:br/>
            <a:r>
              <a:t>持久化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423160"/>
            <a:ext cx="2286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1965960"/>
            <a:ext cx="1874519" cy="1234440"/>
          </a:xfrm>
          <a:prstGeom prst="roundRect">
            <a:avLst>
              <a:gd name="adj" fmla="val 12000"/>
            </a:avLst>
          </a:prstGeom>
          <a:solidFill>
            <a:srgbClr val="101B39"/>
          </a:solidFill>
          <a:ln>
            <a:solidFill>
              <a:srgbClr val="101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2249424"/>
            <a:ext cx="1874519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redis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560320"/>
            <a:ext cx="1874519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850" b="0">
                <a:solidFill>
                  <a:srgbClr val="E6E9FF"/>
                </a:solidFill>
                <a:latin typeface="微软雅黑" panose="020B0503020204020204" charset="-122"/>
              </a:defRPr>
            </a:pPr>
            <a:r>
              <a:t>Broker / Cache</a:t>
            </a:r>
            <a:br/>
            <a:r>
              <a:t>任务状态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78992" y="4224528"/>
            <a:ext cx="82296" cy="82296"/>
          </a:xfrm>
          <a:prstGeom prst="roundRect">
            <a:avLst>
              <a:gd name="adj" fmla="val 12000"/>
            </a:avLst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43584" y="4160520"/>
            <a:ext cx="980236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健康检查保证 PostgreSQL、Redis 与后端按依赖顺序可用。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78992" y="4663440"/>
            <a:ext cx="82296" cy="82296"/>
          </a:xfrm>
          <a:prstGeom prst="roundRect">
            <a:avLst>
              <a:gd name="adj" fmla="val 12000"/>
            </a:avLst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43584" y="4599432"/>
            <a:ext cx="980236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上传文件与数据库数据通过命名卷持久化，不随容器重启丢失。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78992" y="5102352"/>
            <a:ext cx="82296" cy="82296"/>
          </a:xfrm>
          <a:prstGeom prst="roundRect">
            <a:avLst>
              <a:gd name="adj" fmla="val 12000"/>
            </a:avLst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43584" y="5038344"/>
            <a:ext cx="980236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后台任务从主请求剥离，文档解析、嵌入、报告等长耗时操作不会阻塞页面。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质量保障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90525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以可验证的证据衡量完成度，而不是只展示页面效果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607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答辩结论基于当前仓库的测试与验收记录；未执行项不会写成“已经完成”。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7432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411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248716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38528"/>
            <a:ext cx="210312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2500" b="1">
                <a:solidFill>
                  <a:srgbClr val="6659E8"/>
                </a:solidFill>
                <a:latin typeface="微软雅黑" panose="020B0503020204020204" charset="-122"/>
              </a:defRPr>
            </a:pPr>
            <a:r>
              <a:t>161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41448"/>
            <a:ext cx="219456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95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后端测试通过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97480"/>
            <a:ext cx="219456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另有 3 项按环境跳过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691640"/>
            <a:ext cx="248716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1938528"/>
            <a:ext cx="210312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250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441448"/>
            <a:ext cx="219456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95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可见功能验收项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2697480"/>
            <a:ext cx="219456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覆盖桌面与移动端关键流程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691640"/>
            <a:ext cx="248716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1938528"/>
            <a:ext cx="210312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2500" b="1">
                <a:solidFill>
                  <a:srgbClr val="5D76E8"/>
                </a:solidFill>
                <a:latin typeface="微软雅黑" panose="020B0503020204020204" charset="-122"/>
              </a:defRPr>
            </a:pPr>
            <a:r>
              <a:t>53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441448"/>
            <a:ext cx="219456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95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Playwright 可执行项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2697480"/>
            <a:ext cx="219456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有通过证据的浏览器验收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1691640"/>
            <a:ext cx="248716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72016" y="1938528"/>
            <a:ext cx="210312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2500" b="1">
                <a:solidFill>
                  <a:srgbClr val="EE9B51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2441448"/>
            <a:ext cx="219456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95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前端生产构建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2697480"/>
            <a:ext cx="219456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npm run build 通过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931920"/>
            <a:ext cx="502920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3931920"/>
            <a:ext cx="41148" cy="1097280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4096512"/>
            <a:ext cx="46817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已验证的链路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4407408"/>
            <a:ext cx="4663440" cy="4937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注册登录、课程与资料、RAG 引用、候选计划确认、练习与错题、统计、日历、新手引导。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931920"/>
            <a:ext cx="502920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931920"/>
            <a:ext cx="41148" cy="1097280"/>
          </a:xfrm>
          <a:prstGeom prst="rect">
            <a:avLst/>
          </a:prstGeom>
          <a:solidFill>
            <a:srgbClr val="EE9B51"/>
          </a:solidFill>
          <a:ln>
            <a:solidFill>
              <a:srgbClr val="EE9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4096512"/>
            <a:ext cx="46817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诚实保留的边界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4407408"/>
            <a:ext cx="4663440" cy="4937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第三方日历自动同步、部分真实 AI 可视化验收尚不作为本轮已完成功能进行展示。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团队成长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90525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三人协作的价值：把“功能实现”推进为“可交付产品”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607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不以个人模块划分答辩，而以共同完成的工程闭环呈现团队投入。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7432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411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3337560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828800"/>
            <a:ext cx="41148" cy="1481328"/>
          </a:xfrm>
          <a:prstGeom prst="rect">
            <a:avLst/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93392"/>
            <a:ext cx="29900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共同梳理需求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04288"/>
            <a:ext cx="2971800" cy="8778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围绕真实学习路径反复收敛功能边界与演示重点。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07992" y="1828800"/>
            <a:ext cx="3337560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07992" y="1828800"/>
            <a:ext cx="41148" cy="1481328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1993392"/>
            <a:ext cx="29900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共同联调验证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304288"/>
            <a:ext cx="2971800" cy="8778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前后端、数据状态、异步任务与浏览器流程持续闭环。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4" y="1828800"/>
            <a:ext cx="3337560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84464" y="1828800"/>
            <a:ext cx="41148" cy="1481328"/>
          </a:xfrm>
          <a:prstGeom prst="rect">
            <a:avLst/>
          </a:prstGeom>
          <a:solidFill>
            <a:srgbClr val="EE9B51"/>
          </a:solidFill>
          <a:ln>
            <a:solidFill>
              <a:srgbClr val="EE9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1993392"/>
            <a:ext cx="29900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共同迭代表达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2304288"/>
            <a:ext cx="2971800" cy="8778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从页面可用到产品可理解，补齐引导、空状态、错误反馈。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160520"/>
            <a:ext cx="10972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659E8"/>
                </a:solidFill>
                <a:latin typeface="微软雅黑" panose="020B0503020204020204" charset="-122"/>
              </a:defRPr>
            </a:pPr>
            <a:r>
              <a:t>课程收获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572000"/>
            <a:ext cx="10515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Docker 容器化与服务编排  ·  RAG/LLM 应用边界  ·  结构化输出校验  ·  Harness 化的验证意识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138928"/>
            <a:ext cx="105156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把“能跑一次”提升为“可复现、可验证、可解释的交付”。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项目总结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90525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结论：新版本已将能力、路径与证据连接起来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607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本轮答辩展示的不是一个功能清单，而是学生可以真正走完的学习流程。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7432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411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333756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828800"/>
            <a:ext cx="41148" cy="1554480"/>
          </a:xfrm>
          <a:prstGeom prst="rect">
            <a:avLst/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93392"/>
            <a:ext cx="29900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产品层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04288"/>
            <a:ext cx="2971800" cy="9509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学习首页 + 新手引导降低首次使用成本，关键操作有自然入口。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07992" y="1828800"/>
            <a:ext cx="333756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07992" y="1828800"/>
            <a:ext cx="41148" cy="1554480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1993392"/>
            <a:ext cx="29900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能力层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304288"/>
            <a:ext cx="2971800" cy="9509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资料、问答、计划、练习、推荐、统计形成学习数据闭环。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4" y="1828800"/>
            <a:ext cx="333756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84464" y="1828800"/>
            <a:ext cx="41148" cy="1554480"/>
          </a:xfrm>
          <a:prstGeom prst="rect">
            <a:avLst/>
          </a:prstGeom>
          <a:solidFill>
            <a:srgbClr val="5D76E8"/>
          </a:solidFill>
          <a:ln>
            <a:solidFill>
              <a:srgbClr val="5D7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1993392"/>
            <a:ext cx="29900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工程层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2304288"/>
            <a:ext cx="2971800" cy="9509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Docker、异步任务、权限隔离、测试与浏览器验收支撑可交付性。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343400"/>
            <a:ext cx="10652760" cy="822960"/>
          </a:xfrm>
          <a:prstGeom prst="roundRect">
            <a:avLst>
              <a:gd name="adj" fmla="val 12000"/>
            </a:avLst>
          </a:prstGeom>
          <a:solidFill>
            <a:srgbClr val="101B39"/>
          </a:solidFill>
          <a:ln>
            <a:solidFill>
              <a:srgbClr val="101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626864"/>
            <a:ext cx="101955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“让每一位学生从第一步开始，就能持续知道自己下一步应该学什么。”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9"/>
          </a:solidFill>
          <a:ln>
            <a:solidFill>
              <a:srgbClr val="101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40233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AFA9FF"/>
                </a:solidFill>
                <a:latin typeface="微软雅黑" panose="020B0503020204020204" charset="-122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21208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感谢各位老师聆听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50592"/>
            <a:ext cx="52120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C4CCE6"/>
                </a:solidFill>
                <a:latin typeface="微软雅黑" panose="020B0503020204020204" charset="-122"/>
              </a:defRPr>
            </a:pPr>
            <a:r>
              <a:t>智能学习助手 StudyPilot · 企业实训课程答辩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94760"/>
            <a:ext cx="2880360" cy="36576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4096512"/>
            <a:ext cx="22860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9FAAC8"/>
                </a:solidFill>
                <a:latin typeface="微软雅黑" panose="020B0503020204020204" charset="-122"/>
              </a:defRPr>
            </a:pPr>
            <a:r>
              <a:t>备用技术答辩页见后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技术答辩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90525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备用：新手引导的实现边界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607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适合回答“新手引导只是弹窗吗？”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7432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411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37360"/>
            <a:ext cx="34290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37360"/>
            <a:ext cx="41148" cy="1325880"/>
          </a:xfrm>
          <a:prstGeom prst="rect">
            <a:avLst/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901952"/>
            <a:ext cx="30815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状态持久化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212848"/>
            <a:ext cx="3063240" cy="7223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onboarding_seen_version 与完成状态保存到用户偏好，刷新或重新登录不重复打扰。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737360"/>
            <a:ext cx="34290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737360"/>
            <a:ext cx="41148" cy="1325880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1901952"/>
            <a:ext cx="30815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可恢复路径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212848"/>
            <a:ext cx="3063240" cy="7223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设置页可再次打开导览；首页任务清单独立于弹窗，用真实行为计算进度。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737360"/>
            <a:ext cx="34290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737360"/>
            <a:ext cx="41148" cy="1325880"/>
          </a:xfrm>
          <a:prstGeom prst="rect">
            <a:avLst/>
          </a:prstGeom>
          <a:solidFill>
            <a:srgbClr val="EE9B51"/>
          </a:solidFill>
          <a:ln>
            <a:solidFill>
              <a:srgbClr val="EE9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1901952"/>
            <a:ext cx="30815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行动有落点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2212848"/>
            <a:ext cx="3063240" cy="7223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五个步骤跳转课程、上传、问答、计划、今日任务；没有孤立的“演示页面”。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60520"/>
            <a:ext cx="1069848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实现重点：将产品引导建模为用户状态与业务跳转，而不仅是前端展示层。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技术答辩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90525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备用：AI 能力为何可控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607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适合回答“模型输出错误时如何处理？”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7432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411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516636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41148" cy="1115568"/>
          </a:xfrm>
          <a:prstGeom prst="rect">
            <a:avLst/>
          </a:prstGeom>
          <a:solidFill>
            <a:srgbClr val="5D76E8"/>
          </a:solidFill>
          <a:ln>
            <a:solidFill>
              <a:srgbClr val="5D7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947672"/>
            <a:ext cx="48188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可靠输入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258568"/>
            <a:ext cx="4800600" cy="5120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仅围绕当前课程、已处理资料和真实知识点构造上下文。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783080"/>
            <a:ext cx="516636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783080"/>
            <a:ext cx="41148" cy="1115568"/>
          </a:xfrm>
          <a:prstGeom prst="rect">
            <a:avLst/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1947672"/>
            <a:ext cx="48188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结构校验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2258568"/>
            <a:ext cx="4800600" cy="5120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计划、推荐、练习的 AI 增强使用结构化约束与溯源检查。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291839"/>
            <a:ext cx="516636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291839"/>
            <a:ext cx="41148" cy="1115568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456431"/>
            <a:ext cx="48188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规则兜底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3767327"/>
            <a:ext cx="4800600" cy="5120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不可用或不可信输出不替换规则结果，保持可解释的安全降级。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291839"/>
            <a:ext cx="516636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291839"/>
            <a:ext cx="41148" cy="1115568"/>
          </a:xfrm>
          <a:prstGeom prst="rect">
            <a:avLst/>
          </a:prstGeom>
          <a:solidFill>
            <a:srgbClr val="EE9B51"/>
          </a:solidFill>
          <a:ln>
            <a:solidFill>
              <a:srgbClr val="EE9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3456431"/>
            <a:ext cx="48188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操作受控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3767327"/>
            <a:ext cx="4800600" cy="5120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MCP 写操作预览、确认、执行分离，并保留审计。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技术答辩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90525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备用：如何继续迭代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607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以下为明确的后续方向，不与本轮已交付功能混淆。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7432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411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37360"/>
            <a:ext cx="342900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37360"/>
            <a:ext cx="41148" cy="1463040"/>
          </a:xfrm>
          <a:prstGeom prst="rect">
            <a:avLst/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901952"/>
            <a:ext cx="30815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外部日历协同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212848"/>
            <a:ext cx="3063240" cy="8595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在已支持 ICS 导出的基础上，谨慎评估第三方账号授权与双向同步。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737360"/>
            <a:ext cx="342900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737360"/>
            <a:ext cx="41148" cy="1463040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1901952"/>
            <a:ext cx="30815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真实 AI 验收扩大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212848"/>
            <a:ext cx="3063240" cy="8595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在受控模型配额内，增加不同资料和边界场景的可视化验收证据。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737360"/>
            <a:ext cx="342900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737360"/>
            <a:ext cx="41148" cy="1463040"/>
          </a:xfrm>
          <a:prstGeom prst="rect">
            <a:avLst/>
          </a:prstGeom>
          <a:solidFill>
            <a:srgbClr val="EE9B51"/>
          </a:solidFill>
          <a:ln>
            <a:solidFill>
              <a:srgbClr val="EE9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1901952"/>
            <a:ext cx="30815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学习效果评估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2212848"/>
            <a:ext cx="3063240" cy="8595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引入更长期的学习数据，验证计划与推荐对完成率、掌握度的实际影响。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5.2,&quot;left&quot;:739.4399999999999,&quot;top&quot;:133.2,&quot;width&quot;:174.96000000000004}"/>
</p:tagLst>
</file>

<file path=ppt/tags/tag2.xml><?xml version="1.0" encoding="utf-8"?>
<p:tagLst xmlns:p="http://schemas.openxmlformats.org/presentationml/2006/main">
  <p:tag name="KSO_WM_DIAGRAM_VIRTUALLY_FRAME" val="{&quot;height&quot;:295.2,&quot;left&quot;:739.4399999999999,&quot;top&quot;:133.2,&quot;width&quot;:174.96000000000004}"/>
</p:tagLst>
</file>

<file path=ppt/tags/tag3.xml><?xml version="1.0" encoding="utf-8"?>
<p:tagLst xmlns:p="http://schemas.openxmlformats.org/presentationml/2006/main">
  <p:tag name="KSO_WM_DIAGRAM_VIRTUALLY_FRAME" val="{&quot;height&quot;:295.2,&quot;left&quot;:739.4399999999999,&quot;top&quot;:133.2,&quot;width&quot;:174.96000000000004}"/>
</p:tagLst>
</file>

<file path=ppt/tags/tag4.xml><?xml version="1.0" encoding="utf-8"?>
<p:tagLst xmlns:p="http://schemas.openxmlformats.org/presentationml/2006/main">
  <p:tag name="KSO_WM_DIAGRAM_VIRTUALLY_FRAME" val="{&quot;height&quot;:295.2,&quot;left&quot;:739.4399999999999,&quot;top&quot;:133.2,&quot;width&quot;:174.96000000000004}"/>
</p:tagLst>
</file>

<file path=ppt/tags/tag5.xml><?xml version="1.0" encoding="utf-8"?>
<p:tagLst xmlns:p="http://schemas.openxmlformats.org/presentationml/2006/main">
  <p:tag name="KSO_WM_DIAGRAM_VIRTUALLY_FRAME" val="{&quot;height&quot;:295.2,&quot;left&quot;:739.4399999999999,&quot;top&quot;:133.2,&quot;width&quot;:174.96000000000004}"/>
</p:tagLst>
</file>

<file path=ppt/tags/tag6.xml><?xml version="1.0" encoding="utf-8"?>
<p:tagLst xmlns:p="http://schemas.openxmlformats.org/presentationml/2006/main">
  <p:tag name="KSO_WM_DIAGRAM_VIRTUALLY_FRAME" val="{&quot;height&quot;:295.2,&quot;left&quot;:739.4399999999999,&quot;top&quot;:133.2,&quot;width&quot;:174.96000000000004}"/>
</p:tagLst>
</file>

<file path=ppt/tags/tag7.xml><?xml version="1.0" encoding="utf-8"?>
<p:tagLst xmlns:p="http://schemas.openxmlformats.org/presentationml/2006/main">
  <p:tag name="KSO_WM_DIAGRAM_VIRTUALLY_FRAME" val="{&quot;height&quot;:295.2,&quot;left&quot;:739.4399999999999,&quot;top&quot;:133.2,&quot;width&quot;:174.96000000000004}"/>
</p:tagLst>
</file>

<file path=ppt/tags/tag8.xml><?xml version="1.0" encoding="utf-8"?>
<p:tagLst xmlns:p="http://schemas.openxmlformats.org/presentationml/2006/main">
  <p:tag name="KSO_WM_DIAGRAM_VIRTUALLY_FRAME" val="{&quot;height&quot;:295.2,&quot;left&quot;:739.4399999999999,&quot;top&quot;:133.2,&quot;width&quot;:174.96000000000004}"/>
</p:tagLst>
</file>

<file path=ppt/tags/tag9.xml><?xml version="1.0" encoding="utf-8"?>
<p:tagLst xmlns:p="http://schemas.openxmlformats.org/presentationml/2006/main">
  <p:tag name="KSO_WM_DIAGRAM_VIRTUALLY_FRAME" val="{&quot;height&quot;:295.2,&quot;left&quot;:739.4399999999999,&quot;top&quot;:133.2,&quot;width&quot;:174.96000000000004}"/>
</p:tagLst>
</file>

<file path=ppt/tags/tag10.xml><?xml version="1.0" encoding="utf-8"?>
<p:tagLst xmlns:p="http://schemas.openxmlformats.org/presentationml/2006/main">
  <p:tag name="KSO_WM_DIAGRAM_VIRTUALLY_FRAME" val="{&quot;height&quot;:295.2,&quot;left&quot;:739.4399999999999,&quot;top&quot;:133.2,&quot;width&quot;:174.96000000000004}"/>
</p:tagLst>
</file>

<file path=ppt/tags/tag11.xml><?xml version="1.0" encoding="utf-8"?>
<p:tagLst xmlns:p="http://schemas.openxmlformats.org/presentationml/2006/main">
  <p:tag name="KSO_WM_DIAGRAM_VIRTUALLY_FRAME" val="{&quot;height&quot;:295.2,&quot;left&quot;:739.4399999999999,&quot;top&quot;:133.2,&quot;width&quot;:174.96000000000004}"/>
</p:tagLst>
</file>

<file path=ppt/tags/tag12.xml><?xml version="1.0" encoding="utf-8"?>
<p:tagLst xmlns:p="http://schemas.openxmlformats.org/presentationml/2006/main">
  <p:tag name="KSO_WM_DIAGRAM_VIRTUALLY_FRAME" val="{&quot;height&quot;:295.2,&quot;left&quot;:739.4399999999999,&quot;top&quot;:133.2,&quot;width&quot;:174.9600000000000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3873</Words>
  <Application>WPS 演示</Application>
  <PresentationFormat>On-screen Show (4:3)</PresentationFormat>
  <Paragraphs>508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WPS_1724724120</cp:lastModifiedBy>
  <cp:revision>2</cp:revision>
  <dcterms:created xsi:type="dcterms:W3CDTF">2013-01-27T09:14:00Z</dcterms:created>
  <dcterms:modified xsi:type="dcterms:W3CDTF">2026-07-29T03:14:26Z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6E85DA6DF6E248BAAB3DCEDCB1604888_12</vt:lpwstr>
  </property>
  <property fmtid="{D5CDD505-2E9C-101B-9397-08002B2CF9AE}" pid="3" name="KSOProductBuildVer">
    <vt:lpwstr>2052-12.1.0.26895</vt:lpwstr>
  </property>
</Properties>
</file>