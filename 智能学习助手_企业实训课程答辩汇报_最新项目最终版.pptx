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8096" y="530352"/>
            <a:ext cx="2020824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企业实训项目答辩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50976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500" b="1">
                <a:solidFill>
                  <a:srgbClr val="182E52"/>
                </a:solidFill>
                <a:latin typeface="Microsoft YaHei"/>
              </a:rPr>
              <a:t>智能学习助手 StudyPilot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24128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800" b="0">
                <a:solidFill>
                  <a:srgbClr val="2C384E"/>
                </a:solidFill>
                <a:latin typeface="Microsoft YaHei"/>
              </a:rPr>
              <a:t>从“有依据的问答”到“可执行、可反馈的个性化学习闭环”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3472"/>
            <a:ext cx="8138160" cy="6583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620" b="0">
                <a:solidFill>
                  <a:srgbClr val="697891"/>
                </a:solidFill>
                <a:latin typeface="Microsoft YaHei"/>
              </a:rPr>
              <a:t>面向大学生课程学习场景，融合课程资料、RAG、计划、练习、推荐、统计与 AI 增强。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61104"/>
            <a:ext cx="230428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261104"/>
            <a:ext cx="50292" cy="987552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4425696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80" b="1">
                <a:solidFill>
                  <a:srgbClr val="182E52"/>
                </a:solidFill>
                <a:latin typeface="Microsoft YaHei"/>
              </a:rPr>
              <a:t>真实资料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4809744"/>
            <a:ext cx="19202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RAG 引用与知识点提取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4261104"/>
            <a:ext cx="230428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4261104"/>
            <a:ext cx="50292" cy="987552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4425696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80" b="1">
                <a:solidFill>
                  <a:srgbClr val="182E52"/>
                </a:solidFill>
                <a:latin typeface="Microsoft YaHei"/>
              </a:rPr>
              <a:t>真实行为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4809744"/>
            <a:ext cx="19202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计划、练习、反馈、统计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4455" y="4261104"/>
            <a:ext cx="230428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4455" y="4261104"/>
            <a:ext cx="50292" cy="987552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4425696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80" b="1">
                <a:solidFill>
                  <a:srgbClr val="182E52"/>
                </a:solidFill>
                <a:latin typeface="Microsoft YaHei"/>
              </a:rPr>
              <a:t>稳定增强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4809744"/>
            <a:ext cx="192024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规则优先，AI 后台非阻塞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852160"/>
            <a:ext cx="10058400" cy="23774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97891"/>
                </a:solidFill>
                <a:latin typeface="Microsoft YaHei"/>
              </a:rPr>
              <a:t>项目成员：成员一（待填写）  ·  成员二（待填写）  ·  成员三（待填写）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172200"/>
            <a:ext cx="1005840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80" b="0">
                <a:solidFill>
                  <a:srgbClr val="697891"/>
                </a:solidFill>
                <a:latin typeface="Microsoft YaHei"/>
              </a:rPr>
              <a:t>指导老师：____________  |  汇报日期：____________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我们要解决什么问题？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学生需要的不只是聊天工具，而是一条可长期运行的学习数据链路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3438144" cy="19019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27632"/>
            <a:ext cx="50292" cy="1901952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82E52"/>
                </a:solidFill>
                <a:latin typeface="Microsoft YaHei"/>
              </a:rPr>
              <a:t>资料不成体系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3054096" cy="12435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私有课件多、内容分散，问答结果难追溯到具体资料。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627632"/>
            <a:ext cx="3438144" cy="19019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627632"/>
            <a:ext cx="50292" cy="1901952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82E52"/>
                </a:solidFill>
                <a:latin typeface="Microsoft YaHei"/>
              </a:rPr>
              <a:t>学习计划不落地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76272"/>
            <a:ext cx="3054096" cy="12435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一段自然语言计划难确认、难执行，也难评价完成效果。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627632"/>
            <a:ext cx="3438144" cy="19019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5" y="1627632"/>
            <a:ext cx="50292" cy="1901952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82E52"/>
                </a:solidFill>
                <a:latin typeface="Microsoft YaHei"/>
              </a:rPr>
              <a:t>学习反馈不连续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176272"/>
            <a:ext cx="3054096" cy="12435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练习、任务、错题和统计通常彼此分离，无法形成闭环。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261104"/>
            <a:ext cx="10131552" cy="1024128"/>
          </a:xfrm>
          <a:prstGeom prst="roundRect">
            <a:avLst/>
          </a:prstGeom>
          <a:solidFill>
            <a:srgbClr val="EBF0FF"/>
          </a:solidFill>
          <a:ln>
            <a:solidFill>
              <a:srgbClr val="EB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535424"/>
            <a:ext cx="9546336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800" b="1">
                <a:solidFill>
                  <a:srgbClr val="182E52"/>
                </a:solidFill>
                <a:latin typeface="Microsoft YaHei"/>
              </a:rPr>
              <a:t>目标：让“资料从哪里来、今天学什么、是否真正掌握”都能被记录、解释和验证。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从单点功能到学习闭环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核心不是堆叠功能，而是让学习行为持续反馈到后续决策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874519"/>
            <a:ext cx="164592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资料上传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2029968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74519"/>
            <a:ext cx="164592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RAG 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29968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74519"/>
            <a:ext cx="1645920" cy="530352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知识点提取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029968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874519"/>
            <a:ext cx="1645920" cy="530352"/>
          </a:xfrm>
          <a:prstGeom prst="roundRect">
            <a:avLst/>
          </a:prstGeom>
          <a:solidFill>
            <a:srgbClr val="E98E3C"/>
          </a:solidFill>
          <a:ln>
            <a:solidFill>
              <a:srgbClr val="E9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计划与任务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6" y="2029968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1874519"/>
            <a:ext cx="164592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练习与错题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4663" y="2029968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22992" y="1874519"/>
            <a:ext cx="164592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推荐与统计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474720"/>
            <a:ext cx="4828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474720"/>
            <a:ext cx="50292" cy="137160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3639312"/>
            <a:ext cx="4443984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以资料为依据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023359"/>
            <a:ext cx="4443984" cy="7132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文档切块、向量检索、引用约束与来源章节，使回答和学习内容可追溯。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474720"/>
            <a:ext cx="4828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3474720"/>
            <a:ext cx="50292" cy="137160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39312"/>
            <a:ext cx="4443984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以真实行为为反馈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59"/>
            <a:ext cx="4443984" cy="7132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任务完成、答题结果和学习记录会更新掌握度，并驱动推荐、统计和周报。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功能全景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最新版本覆盖完整学习旅程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已从早期核心闭环扩展至练习、错题、推荐、统计、日历和首次引导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1444752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认证与课程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真实用户隔离、课程编辑归档、全局搜索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48132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481328"/>
            <a:ext cx="50292" cy="1444752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2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资料与问答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29968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PDF/TXT/MD、OCR、RAG 引用、LaTeX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48132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5" y="1481328"/>
            <a:ext cx="50292" cy="1444752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64592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计划与任务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029968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偏好定制、候选确认、今日执行、幂等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5584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355848"/>
            <a:ext cx="50292" cy="1444752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2044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练习与掌握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04487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来源题、错题本、真实尝试与掌握度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335584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5424" y="3355848"/>
            <a:ext cx="50292" cy="1444752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52044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推荐与统计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04487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可解释建议、周报、CSV/Markdown 导出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7615" y="3355848"/>
            <a:ext cx="343814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7615" y="3355848"/>
            <a:ext cx="50292" cy="1444752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3520440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日历与引导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3904487"/>
            <a:ext cx="3054096" cy="7863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本地日历、ICS、首次引导与清单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资料处理与有依据的 RAG 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文档先异步处理，问答再按用户、课程、文档和版本检索证据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449324"/>
            <a:ext cx="5257800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5193792" cy="3255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809744"/>
            <a:ext cx="5193792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19" b="0">
                <a:solidFill>
                  <a:srgbClr val="697891"/>
                </a:solidFill>
                <a:latin typeface="Microsoft YaHei"/>
              </a:rPr>
              <a:t>文档处理：真实任务状态、进度与文本块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5644" y="1449324"/>
            <a:ext cx="5257800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81328"/>
            <a:ext cx="5193792" cy="3255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4809744"/>
            <a:ext cx="5193792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19" b="0">
                <a:solidFill>
                  <a:srgbClr val="697891"/>
                </a:solidFill>
                <a:latin typeface="Microsoft YaHei"/>
              </a:rPr>
              <a:t>智能问答：真实会话、回答与资料引用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413248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5321808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20" b="0">
                <a:solidFill>
                  <a:srgbClr val="2C384E"/>
                </a:solidFill>
                <a:latin typeface="Microsoft YaHei"/>
              </a:rPr>
              <a:t>PDF 支持 PyMuPDF 提取；弱文本页可启用 OCR，PPT/PPTX 建议先导出 PDF。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5833872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5742432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20" b="0">
                <a:solidFill>
                  <a:srgbClr val="2C384E"/>
                </a:solidFill>
                <a:latin typeface="Microsoft YaHei"/>
              </a:rPr>
              <a:t>回答引用只能来自本次检索集合；资料不足时不伪造课程引用。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规则优先、AI 后台增强：慢模型不阻塞主流程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最新版本将推荐、计划和练习改为立即返回可用规则结果，AI 作为可选增强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178308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规则结果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093976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938528"/>
            <a:ext cx="178308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立即返回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93976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1938528"/>
            <a:ext cx="1783080" cy="530352"/>
          </a:xfrm>
          <a:prstGeom prst="roundRect">
            <a:avLst/>
          </a:prstGeom>
          <a:solidFill>
            <a:srgbClr val="E98E3C"/>
          </a:solidFill>
          <a:ln>
            <a:solidFill>
              <a:srgbClr val="E9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后台任务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093976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1938528"/>
            <a:ext cx="1783080" cy="530352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结构化校验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0304" y="2093976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56648" y="1938528"/>
            <a:ext cx="178308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页面刷新结果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438144"/>
            <a:ext cx="4846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438144"/>
            <a:ext cx="50292" cy="1408176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602736"/>
            <a:ext cx="44622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为什么这样设计？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986783"/>
            <a:ext cx="4462272" cy="7498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外部模型可能慢、超时或返回不合格内容；基础学习流程不能因此不可用。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38144"/>
            <a:ext cx="4846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38144"/>
            <a:ext cx="50292" cy="1408176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3602736"/>
            <a:ext cx="44622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如何保证安全？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986783"/>
            <a:ext cx="4462272" cy="7498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AI 输出经过字段、选项、引用和来源文本校验；不合格结果标记失败，不覆盖可用规则结果。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0149840" cy="23774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300" b="1">
                <a:solidFill>
                  <a:srgbClr val="182E52"/>
                </a:solidFill>
                <a:latin typeface="Microsoft YaHei"/>
              </a:rPr>
              <a:t>真实 Qwen 验证中，推荐与计划增强成功；练习来源不合格时被系统按设计拒绝。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计划、任务与首页反馈构成日常学习闭环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从候选确认到实际学习记录，再到首页、掌握度和趋势反馈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431036"/>
            <a:ext cx="5257800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63040"/>
            <a:ext cx="5193792" cy="3255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791456"/>
            <a:ext cx="5193792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19" b="0">
                <a:solidFill>
                  <a:srgbClr val="697891"/>
                </a:solidFill>
                <a:latin typeface="Microsoft YaHei"/>
              </a:rPr>
              <a:t>学习计划：活动版本、任务数量、总时长与日期安排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5644" y="1431036"/>
            <a:ext cx="5257800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63040"/>
            <a:ext cx="5193792" cy="3255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4791456"/>
            <a:ext cx="5193792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19" b="0">
                <a:solidFill>
                  <a:srgbClr val="697891"/>
                </a:solidFill>
                <a:latin typeface="Microsoft YaHei"/>
              </a:rPr>
              <a:t>学习首页：学习时长、完成率、掌握度和趋势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5413248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5321808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20" b="0">
                <a:solidFill>
                  <a:srgbClr val="2C384E"/>
                </a:solidFill>
                <a:latin typeface="Microsoft YaHei"/>
              </a:rPr>
              <a:t>候选计划必须由用户确认后才会生效；候选/旧版本任务不会混入今日任务。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5833872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5742432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20" b="0">
                <a:solidFill>
                  <a:srgbClr val="2C384E"/>
                </a:solidFill>
                <a:latin typeface="Microsoft YaHei"/>
              </a:rPr>
              <a:t>任务完成会生成 LearningRecord，并更新知识点掌握度与推荐/统计输入。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练习、错题本与掌握度：用真实尝试积累证据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最新内容质量补修后，练习和计划只围绕课程资料中可验证的真实知识点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0749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54480"/>
            <a:ext cx="50292" cy="1426464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来源题生成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4690872" cy="7680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从课程文档 chunk 生成题目，保存来源、页码和引用。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54480"/>
            <a:ext cx="50749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54480"/>
            <a:ext cx="50292" cy="1426464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1907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提交幂等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690872" cy="7680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submission_id 绑定课程、题目、答案和耗时，错配返回 409。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01568"/>
            <a:ext cx="50749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401568"/>
            <a:ext cx="50292" cy="1426464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66160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错题闭环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50207"/>
            <a:ext cx="4690872" cy="7680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错误答案进入错题本，可筛选、复练、标记与移出。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401568"/>
            <a:ext cx="50749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401568"/>
            <a:ext cx="50292" cy="1426464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66160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掌握度更新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50207"/>
            <a:ext cx="4690872" cy="7680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真实 PracticeAttempt 与 LearningRecord 才能更新掌握度。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413248"/>
            <a:ext cx="10058400" cy="384048"/>
          </a:xfrm>
          <a:prstGeom prst="roundRect">
            <a:avLst/>
          </a:prstGeom>
          <a:solidFill>
            <a:srgbClr val="E7F7F3"/>
          </a:solidFill>
          <a:ln>
            <a:solidFill>
              <a:srgbClr val="E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513832"/>
            <a:ext cx="960120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180" b="1">
                <a:solidFill>
                  <a:srgbClr val="182E52"/>
                </a:solidFill>
                <a:latin typeface="Microsoft YaHei"/>
              </a:rPr>
              <a:t>核心原则：没有真实证据的占位知识点不会被包装成“已掌握的课程内容”。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可解释推荐、学习统计与周报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用真实任务、掌握度、考试时间、学习记录生成下一步建议与复盘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17904"/>
            <a:ext cx="50292" cy="146304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学习建议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任务、薄弱点、资料问答、计划、复盘五类分类推荐。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17904"/>
            <a:ext cx="50292" cy="14630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反馈持久化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点击、有帮助、不感兴趣与历史均绑定真实资源身份。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92424"/>
            <a:ext cx="50292" cy="146304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学习统计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7/30 天趋势、热力图、连续学习、课程分布、CSV 导出。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392424"/>
            <a:ext cx="50292" cy="14630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学习周报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异步生成结构化周报，支持任务中心查看和 Markdown 导出。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31536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320" b="1">
                <a:solidFill>
                  <a:srgbClr val="182E52"/>
                </a:solidFill>
                <a:latin typeface="Microsoft YaHei"/>
              </a:rPr>
              <a:t>统计按用户时区计算，只聚合真实完成记录；导出文件加入编码和公式注入保护。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核心能力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学习日历、首次引导与全局搜索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降低第一次使用门槛，让新用户知道下一步该做什么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17904"/>
            <a:ext cx="50292" cy="146304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首次引导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欢迎弹窗与 5 步 Tour 引导课程、资料、问答、计划和练习。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17904"/>
            <a:ext cx="50292" cy="14630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进度清单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首页 0–5 / 5 真实检查：课程、资料、问答、计划、任务。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92424"/>
            <a:ext cx="50292" cy="146304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学习日历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本地事件、计划同步、两阶段确认、周导航、ICS 导出。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392424"/>
            <a:ext cx="50292" cy="14630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全局搜索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Ctrl/Cmd+K 搜索功能入口与当前用户课程，支持移动端。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22392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320" b="1">
                <a:solidFill>
                  <a:srgbClr val="182E52"/>
                </a:solidFill>
                <a:latin typeface="Microsoft YaHei"/>
              </a:rPr>
              <a:t>边界说明：当前为 StudyPilot 本地日历，可导出 ICS；尚未自动连接 Outlook / Google Calendar。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前后端分离、容器化部署与分层数据职责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最新项目在保留核心架构的基础上加入 OCR、LaTeX、Playwright 与 AI 异步增强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389888"/>
            <a:ext cx="512064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Vue 3 · TypeScript · Element Plus · ECharts · KaTeX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2157984"/>
            <a:ext cx="5120640" cy="530352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FastAPI · SQLAlchemy · Pydantic · JWT · Provider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85032"/>
            <a:ext cx="297180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PostgreSQL + pgvector
权威数据 + 向量检索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3685032"/>
            <a:ext cx="2971800" cy="530352"/>
          </a:xfrm>
          <a:prstGeom prst="roundRect">
            <a:avLst/>
          </a:prstGeom>
          <a:solidFill>
            <a:srgbClr val="E98E3C"/>
          </a:solidFill>
          <a:ln>
            <a:solidFill>
              <a:srgbClr val="E9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Redis + Celery
队列 + 进度 + AI 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3685032"/>
            <a:ext cx="2971800" cy="530352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Docker Compose
frontend/backend/worker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28700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82E52"/>
                </a:solidFill>
                <a:latin typeface="Microsoft YaHei"/>
              </a:rPr>
              <a:t>前端不直接访问数据库或密钥；后端负责权限与事务；Worker 仅接收可重入的任务 ID。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工程质量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从“能跑”到“可验证”：重点解决可靠性与安全边界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项目不仅实现业务页面，也持续处理并发、权限、失败恢复和可见交互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08760"/>
            <a:ext cx="50292" cy="146304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73351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权限隔离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A/B/A 用户验收覆盖课程、资料、任务、错题、推荐、周报和日历资源。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0876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08760"/>
            <a:ext cx="50292" cy="14630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73351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并发幂等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任务完成、练习提交、日历确认、推荐操作均有锁或唯一约束。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83279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83279"/>
            <a:ext cx="50292" cy="146304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4787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异步可靠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31920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任务可取消、重试、恢复；AI 增强失败不回滚可用规则结果。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383279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383279"/>
            <a:ext cx="50292" cy="14630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4787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内容质量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引用、知识点和来源文本严格校验，拒绝无法溯源的 AI 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验证证据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最新项目具备接口、构建、浏览器验收与真实环境验证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以下数据均来自仓库最新项目状态记录，不把未验证能力写成已通过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2487168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2057400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800" b="1">
                <a:solidFill>
                  <a:srgbClr val="7657BE"/>
                </a:solidFill>
                <a:latin typeface="Microsoft YaHei"/>
              </a:rPr>
              <a:t>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205740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50" b="0">
                <a:solidFill>
                  <a:srgbClr val="697891"/>
                </a:solidFill>
                <a:latin typeface="Microsoft YaHei"/>
              </a:rPr>
              <a:t>完整 SQLite 后端测试
passed（3 skipped）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27632"/>
            <a:ext cx="2487168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1847088"/>
            <a:ext cx="2057400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800" b="1">
                <a:solidFill>
                  <a:srgbClr val="1B9885"/>
                </a:solidFill>
                <a:latin typeface="Microsoft YaHei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2432304"/>
            <a:ext cx="205740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50" b="0">
                <a:solidFill>
                  <a:srgbClr val="697891"/>
                </a:solidFill>
                <a:latin typeface="Microsoft YaHei"/>
              </a:rPr>
              <a:t>可见功能验收清单
BLOCKED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1627632"/>
            <a:ext cx="2487168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847088"/>
            <a:ext cx="2057400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800" b="1">
                <a:solidFill>
                  <a:srgbClr val="4F62DF"/>
                </a:solidFill>
                <a:latin typeface="Microsoft YaHei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432304"/>
            <a:ext cx="205740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50" b="0">
                <a:solidFill>
                  <a:srgbClr val="697891"/>
                </a:solidFill>
                <a:latin typeface="Microsoft YaHei"/>
              </a:rPr>
              <a:t>Playwright 可执行项
有通过证据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1627632"/>
            <a:ext cx="2487168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847088"/>
            <a:ext cx="2057400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800" b="1">
                <a:solidFill>
                  <a:srgbClr val="E98E3C"/>
                </a:solidFill>
                <a:latin typeface="Microsoft YaHei"/>
              </a:rPr>
              <a:t>159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432304"/>
            <a:ext cx="205740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50" b="0">
                <a:solidFill>
                  <a:srgbClr val="697891"/>
                </a:solidFill>
                <a:latin typeface="Microsoft YaHei"/>
              </a:rPr>
              <a:t>AI/Provider 封版回归
passed（3 skipped）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3858768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767328"/>
            <a:ext cx="1005840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0">
                <a:solidFill>
                  <a:srgbClr val="2C384E"/>
                </a:solidFill>
                <a:latin typeface="Microsoft YaHei"/>
              </a:rPr>
              <a:t>Playwright 覆盖桌面/移动端路由、表单、确认、下载、A/B 用户隔离与恢复。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279392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4187952"/>
            <a:ext cx="1005840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0">
                <a:solidFill>
                  <a:srgbClr val="2C384E"/>
                </a:solidFill>
                <a:latin typeface="Microsoft YaHei"/>
              </a:rPr>
              <a:t>Docker 真实环境验证过 PostgreSQL、Redis、backend、worker 与 frontend 健康状态。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4700016"/>
            <a:ext cx="91440" cy="91440"/>
          </a:xfrm>
          <a:prstGeom prst="ellipse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4608576"/>
            <a:ext cx="1005840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0">
                <a:solidFill>
                  <a:srgbClr val="2C384E"/>
                </a:solidFill>
                <a:latin typeface="Microsoft YaHei"/>
              </a:rPr>
              <a:t>真实 Qwen 环境验证强调“成功可用、失败可解释”：非法来源题被拒绝而非强行展示。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团队成长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三人共同完成从原型到真实业务闭环的迭代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不拆分个人功能归属，更强调共同讨论、联调、验证和复盘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27048"/>
            <a:ext cx="50292" cy="146304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共同分析问题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从用户学习场景拆解资料、计划、行为和反馈之间的数据关系。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27048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27048"/>
            <a:ext cx="50292" cy="14630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39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共同完成联调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75688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围绕页面、API、数据库、Worker 和容器环境持续排查跨层问题。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92424"/>
            <a:ext cx="50292" cy="146304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共同验证补修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把浏览器可见行为、异常恢复与并发边界纳入验收，而不是只看接口返回。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392424"/>
            <a:ext cx="50292" cy="14630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共同沉淀表达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维护架构、Docker、验收、项目状态和答辩材料，保证交付可复现。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40680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50" b="1">
                <a:solidFill>
                  <a:srgbClr val="182E52"/>
                </a:solidFill>
                <a:latin typeface="Microsoft YaHei"/>
              </a:rPr>
              <a:t>课程收获：从“完成页面”升级为“用真实数据、自动化验证和清晰边界交付系统”。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216152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项目边界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真实说明当前能力，明确后续可扩展方向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答辩中主动说明边界，可以体现工程判断而不是夸大功能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27048"/>
            <a:ext cx="50292" cy="338328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82E52"/>
                </a:solidFill>
                <a:latin typeface="Microsoft YaHei"/>
              </a:rPr>
              <a:t>当前已实现并验证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690872" cy="2724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• 真实课程资料处理、RAG、计划、任务、练习、推荐、统计、周报与本地日历
• AI 规则优先与后台增强，结构化校验和失败降级
• 浏览器验收、用户隔离、并发幂等与导出流程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527048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527048"/>
            <a:ext cx="50292" cy="338328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691639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82E52"/>
                </a:solidFill>
                <a:latin typeface="Microsoft YaHei"/>
              </a:rPr>
              <a:t>明确的后续能力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075688"/>
            <a:ext cx="4690872" cy="2724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• Outlook / Google Calendar 自动同步
• 更完整的外部模型可视化验收与稳定性优化
• PDF 扫描件的更多真实样本验证
• 前端大 chunk 的性能拆分与更多生产化监控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31536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360" b="1">
                <a:solidFill>
                  <a:srgbClr val="182E52"/>
                </a:solidFill>
                <a:latin typeface="Microsoft YaHei"/>
              </a:rPr>
              <a:t>原则：成功的 AI 增强才展示，失败或不可信的内容宁可拒绝，也不伪造成项目能力。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417320" cy="274320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总结与演示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我们完成的是可运行、可验证、可持续迭代的学习平台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现场展示建议从一个新用户的完整学习路径开始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3619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536192"/>
            <a:ext cx="50292" cy="1298448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00784"/>
            <a:ext cx="304495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功能完整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84831"/>
            <a:ext cx="304495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资料、问答、计划、练习、推荐、统计与日历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53619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1536192"/>
            <a:ext cx="50292" cy="1298448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700784"/>
            <a:ext cx="304495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工程可靠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084831"/>
            <a:ext cx="304495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异步、权限、幂等、内容校验、容器化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53619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8" y="1536192"/>
            <a:ext cx="50292" cy="1298448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1700784"/>
            <a:ext cx="304495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验证充分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084831"/>
            <a:ext cx="3044952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构建、测试、浏览器验收、真实环境验证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694176"/>
            <a:ext cx="1325880" cy="530352"/>
          </a:xfrm>
          <a:prstGeom prst="roundRect">
            <a:avLst/>
          </a:prstGeom>
          <a:solidFill>
            <a:srgbClr val="182E52"/>
          </a:solidFill>
          <a:ln>
            <a:solidFill>
              <a:srgbClr val="18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注册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3976" y="3694176"/>
            <a:ext cx="132588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课程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6472" y="3694176"/>
            <a:ext cx="132588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资料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58968" y="3694176"/>
            <a:ext cx="1325880" cy="530352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问答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41464" y="3694176"/>
            <a:ext cx="1325880" cy="530352"/>
          </a:xfrm>
          <a:prstGeom prst="roundRect">
            <a:avLst/>
          </a:prstGeom>
          <a:solidFill>
            <a:srgbClr val="E98E3C"/>
          </a:solidFill>
          <a:ln>
            <a:solidFill>
              <a:srgbClr val="E9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3694176"/>
            <a:ext cx="1325880" cy="530352"/>
          </a:xfrm>
          <a:prstGeom prst="roundRect">
            <a:avLst/>
          </a:prstGeom>
          <a:solidFill>
            <a:srgbClr val="4F62DF"/>
          </a:solidFill>
          <a:ln>
            <a:solidFill>
              <a:srgbClr val="4F6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练习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7272" y="3849624"/>
            <a:ext cx="210312" cy="2103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06456" y="3694176"/>
            <a:ext cx="1325880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303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2200" b="1">
                <a:solidFill>
                  <a:srgbClr val="182E52"/>
                </a:solidFill>
                <a:latin typeface="Microsoft YaHei"/>
              </a:rPr>
              <a:t>谢谢聆听，欢迎老师提问与指导。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备用答辩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为什么不能只用大模型？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资料可追溯、数据隔离与长期学习反馈需要系统能力，而不仅是一次对话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38144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54480"/>
            <a:ext cx="50292" cy="3474720"/>
          </a:xfrm>
          <a:prstGeom prst="rect">
            <a:avLst/>
          </a:prstGeom>
          <a:solidFill>
            <a:srgbClr val="CC5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普通大模型的问题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3054096" cy="281635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不了解用户私有资料；无法保证答案出处；也不能可靠保存课程、计划和学习行为。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54480"/>
            <a:ext cx="3438144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554480"/>
            <a:ext cx="50292" cy="347472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19072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我们的 RAG 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03120"/>
            <a:ext cx="3054096" cy="281635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先按课程、文档和版本检索资料，再让模型回答；引用只能来自本次证据集合。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554480"/>
            <a:ext cx="3438144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554480"/>
            <a:ext cx="50292" cy="347472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19072"/>
            <a:ext cx="3054096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系统的长期价值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3054096" cy="281635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学习任务、练习、错题和反馈进入数据库，才能驱动后续掌握度、推荐和统计。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备用答辩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PostgreSQL、Redis 和 Celery 如何分工？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回答数据一致性、缓存与异步任务相关问题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01568" cy="530352"/>
          </a:xfrm>
          <a:prstGeom prst="roundRect">
            <a:avLst/>
          </a:prstGeom>
          <a:solidFill>
            <a:srgbClr val="1B9885"/>
          </a:solidFill>
          <a:ln>
            <a:solidFill>
              <a:srgbClr val="1B9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PostgreSQL：权威事实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01568" cy="530352"/>
          </a:xfrm>
          <a:prstGeom prst="roundRect">
            <a:avLst/>
          </a:prstGeom>
          <a:solidFill>
            <a:srgbClr val="E98E3C"/>
          </a:solidFill>
          <a:ln>
            <a:solidFill>
              <a:srgbClr val="E9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Redis：短期高速层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401568" cy="530352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Celery：耗时执行者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23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423160"/>
            <a:ext cx="50292" cy="1993392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877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保存内容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71800"/>
            <a:ext cx="3017520" cy="133502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用户、课程、资料版本、计划任务、答题、掌握度、聊天、统计和最终状态。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23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423160"/>
            <a:ext cx="50292" cy="1993392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5877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保存内容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971800"/>
            <a:ext cx="3017520" cy="133502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队列、缓存、进度和锁；丢失时可根据 PostgreSQL 重建。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2423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2423160"/>
            <a:ext cx="50292" cy="1993392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877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82E52"/>
                </a:solidFill>
                <a:latin typeface="Microsoft YaHei"/>
              </a:rPr>
              <a:t>执行内容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971800"/>
            <a:ext cx="3017520" cy="133502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资料解析、OCR、Embedding、周报和 AI 增强等可重入长任务。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084064"/>
            <a:ext cx="10104120" cy="530352"/>
          </a:xfrm>
          <a:prstGeom prst="roundRect">
            <a:avLst/>
          </a:prstGeom>
          <a:solidFill>
            <a:srgbClr val="EBF0FF"/>
          </a:solidFill>
          <a:ln>
            <a:solidFill>
              <a:srgbClr val="EB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5257800"/>
            <a:ext cx="9619488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250" b="1">
                <a:solidFill>
                  <a:srgbClr val="182E52"/>
                </a:solidFill>
                <a:latin typeface="Microsoft YaHei"/>
              </a:rPr>
              <a:t>一致性原则：数据库提交成功才算业务成功；Redis 与 Worker 都不替代权威业务记录。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292608"/>
            <a:ext cx="1819656" cy="274320"/>
          </a:xfrm>
          <a:prstGeom prst="roundRect">
            <a:avLst/>
          </a:prstGeom>
          <a:solidFill>
            <a:srgbClr val="7657BE"/>
          </a:solidFill>
          <a:ln>
            <a:solidFill>
              <a:srgbClr val="76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备用答辩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400" b="1">
                <a:solidFill>
                  <a:srgbClr val="182E52"/>
                </a:solidFill>
                <a:latin typeface="Microsoft YaHei"/>
              </a:rPr>
              <a:t>AI 增强失败时，系统如何表现？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19" b="0">
                <a:solidFill>
                  <a:srgbClr val="697891"/>
                </a:solidFill>
                <a:latin typeface="Microsoft YaHei"/>
              </a:rPr>
              <a:t>最新版本的关键设计是：AI 失败不阻塞学习主流程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498079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Microsoft YaHei"/>
              </a:rPr>
              <a:t>智能学习助手 StudyPilot · 企业实训课程项目汇报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320040" cy="1554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17904"/>
            <a:ext cx="50292" cy="1463040"/>
          </a:xfrm>
          <a:prstGeom prst="rect">
            <a:avLst/>
          </a:prstGeom>
          <a:solidFill>
            <a:srgbClr val="4F6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先返回规则结果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推荐、计划、练习首先给出可执行的规则结果。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51790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517904"/>
            <a:ext cx="50292" cy="1463040"/>
          </a:xfrm>
          <a:prstGeom prst="rect">
            <a:avLst/>
          </a:prstGeom>
          <a:solidFill>
            <a:srgbClr val="E9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82495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后台异步增强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6654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Celery 异步调用模型，页面有限轮询并按任务状态刷新。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92424"/>
            <a:ext cx="50292" cy="1463040"/>
          </a:xfrm>
          <a:prstGeom prst="rect">
            <a:avLst/>
          </a:prstGeom>
          <a:solidFill>
            <a:srgbClr val="76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严格校验输出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选项、答案、引用、来源文本和结构字段必须通过验证。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392424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392424"/>
            <a:ext cx="50292" cy="1463040"/>
          </a:xfrm>
          <a:prstGeom prst="rect">
            <a:avLst/>
          </a:prstGeom>
          <a:solidFill>
            <a:srgbClr val="1B9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57016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182E52"/>
                </a:solidFill>
                <a:latin typeface="Microsoft YaHei"/>
              </a:rPr>
              <a:t>失败保持可用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41063"/>
            <a:ext cx="4690872" cy="8046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Microsoft YaHei"/>
              </a:rPr>
              <a:t>超时、取消或无效内容只标记任务失败，不回滚基础结果。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394960"/>
            <a:ext cx="10287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82E52"/>
                </a:solidFill>
                <a:latin typeface="Microsoft YaHei"/>
              </a:rPr>
              <a:t>这比“等待模型成功才能使用页面”更适合真实学习产品，也更容易解释和测试。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StudyPilot 智能学习助手｜最新项目答辩汇报</dc:title>
  <dc:subject>企业实训课程项目答辩</dc:subject>
  <dc:creator>StudyPilot 项目组</dc:creator>
  <cp:keywords/>
  <dc:description>最新主分支功能版：主讲 16 页，备用答辩 3 页。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