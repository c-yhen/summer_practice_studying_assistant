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08" y="530352"/>
            <a:ext cx="1261872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企业实训答辩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243584"/>
            <a:ext cx="8961120" cy="56692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3500" b="1">
                <a:solidFill>
                  <a:srgbClr val="1A3052"/>
                </a:solidFill>
                <a:latin typeface="微软雅黑" panose="020B0503020204020204" charset="-122"/>
              </a:rPr>
              <a:t>智能学习助手 StudyPilot</a:t>
            </a:r>
            <a:endParaRPr sz="35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8952" y="1920240"/>
            <a:ext cx="9784080" cy="3840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800" b="0">
                <a:solidFill>
                  <a:srgbClr val="2B374C"/>
                </a:solidFill>
                <a:latin typeface="微软雅黑" panose="020B0503020204020204" charset="-122"/>
              </a:rPr>
              <a:t>基于私有资料 RAG、结构化学习计划与学习反馈的 Web 平台</a:t>
            </a:r>
            <a:endParaRPr sz="1800" b="0">
              <a:solidFill>
                <a:srgbClr val="2B374C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" y="2670048"/>
            <a:ext cx="7863840" cy="6583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650" b="0">
                <a:solidFill>
                  <a:srgbClr val="697891"/>
                </a:solidFill>
                <a:latin typeface="微软雅黑" panose="020B0503020204020204" charset="-122"/>
              </a:rPr>
              <a:t>不是只会回答问题的聊天机器人，
而是一套从资料到任务、再到学习反馈的真实数据闭环。</a:t>
            </a:r>
            <a:endParaRPr sz="165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68096" y="4251960"/>
            <a:ext cx="22219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4251960"/>
            <a:ext cx="50292" cy="987552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4416552"/>
            <a:ext cx="1828800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有依据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552" y="480060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回答绑定资料引用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55264" y="4251960"/>
            <a:ext cx="22219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55264" y="4251960"/>
            <a:ext cx="50292" cy="987552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4416552"/>
            <a:ext cx="1828800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可执行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74720" y="480060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计划转化为每日任务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742432" y="4251960"/>
            <a:ext cx="22219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42432" y="4251960"/>
            <a:ext cx="50292" cy="987552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61888" y="4416552"/>
            <a:ext cx="1828800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能反馈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61888" y="480060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行为更新掌握度与趋势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096" y="5852160"/>
            <a:ext cx="10241280" cy="22479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50" b="0">
                <a:solidFill>
                  <a:srgbClr val="697891"/>
                </a:solidFill>
                <a:latin typeface="微软雅黑" panose="020B0503020204020204" charset="-122"/>
              </a:rPr>
              <a:t>项目成员：</a:t>
            </a:r>
            <a:r>
              <a:rPr lang="zh-CN" sz="1050" b="0">
                <a:solidFill>
                  <a:srgbClr val="697891"/>
                </a:solidFill>
                <a:latin typeface="微软雅黑" panose="020B0503020204020204" charset="-122"/>
              </a:rPr>
              <a:t>李云开</a:t>
            </a:r>
            <a:r>
              <a:rPr sz="1050" b="0">
                <a:solidFill>
                  <a:srgbClr val="697891"/>
                </a:solidFill>
                <a:latin typeface="微软雅黑" panose="020B0503020204020204" charset="-122"/>
              </a:rPr>
              <a:t>  ·  </a:t>
            </a:r>
            <a:r>
              <a:rPr lang="zh-CN" sz="1050" b="0">
                <a:solidFill>
                  <a:srgbClr val="697891"/>
                </a:solidFill>
                <a:latin typeface="微软雅黑" panose="020B0503020204020204" charset="-122"/>
              </a:rPr>
              <a:t>于晨</a:t>
            </a:r>
            <a:r>
              <a:rPr sz="1050" b="0">
                <a:solidFill>
                  <a:srgbClr val="697891"/>
                </a:solidFill>
                <a:latin typeface="微软雅黑" panose="020B0503020204020204" charset="-122"/>
              </a:rPr>
              <a:t>  ·  </a:t>
            </a:r>
            <a:r>
              <a:rPr lang="zh-CN" sz="1050" b="0">
                <a:solidFill>
                  <a:srgbClr val="697891"/>
                </a:solidFill>
                <a:latin typeface="微软雅黑" panose="020B0503020204020204" charset="-122"/>
              </a:rPr>
              <a:t>李止</a:t>
            </a:r>
            <a:r>
              <a:rPr lang="zh-CN" sz="1050" b="0">
                <a:solidFill>
                  <a:srgbClr val="697891"/>
                </a:solidFill>
                <a:latin typeface="微软雅黑" panose="020B0503020204020204" charset="-122"/>
              </a:rPr>
              <a:t>峰</a:t>
            </a:r>
            <a:endParaRPr lang="zh-CN" sz="105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8096" y="6181344"/>
            <a:ext cx="10241280" cy="21209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970" b="0">
                <a:solidFill>
                  <a:srgbClr val="697891"/>
                </a:solidFill>
                <a:latin typeface="微软雅黑" panose="020B0503020204020204" charset="-122"/>
              </a:rPr>
              <a:t>5 学分暑期企业实训课程  |  指导教师：___</a:t>
            </a:r>
            <a:r>
              <a:rPr lang="zh-CN" sz="970" b="0">
                <a:solidFill>
                  <a:srgbClr val="697891"/>
                </a:solidFill>
                <a:latin typeface="微软雅黑" panose="020B0503020204020204" charset="-122"/>
              </a:rPr>
              <a:t>吴迪</a:t>
            </a:r>
            <a:r>
              <a:rPr sz="970" b="0">
                <a:solidFill>
                  <a:srgbClr val="697891"/>
                </a:solidFill>
                <a:latin typeface="微软雅黑" panose="020B0503020204020204" charset="-122"/>
              </a:rPr>
              <a:t>_________  |  汇报日期：____________</a:t>
            </a:r>
            <a:endParaRPr sz="97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914400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项目背景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为什么要做智能学习助手？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从大学生真实学习过程中的三个断点出发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16768" y="384048"/>
            <a:ext cx="676656" cy="2011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50" b="0">
                <a:solidFill>
                  <a:srgbClr val="697891"/>
                </a:solidFill>
                <a:latin typeface="微软雅黑" panose="020B0503020204020204" charset="-122"/>
              </a:rPr>
              <a:t>建议 35s</a:t>
            </a:r>
            <a:endParaRPr sz="85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02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1627632"/>
            <a:ext cx="3438144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627632"/>
            <a:ext cx="50292" cy="1920240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92224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500" b="1">
                <a:solidFill>
                  <a:srgbClr val="1A3052"/>
                </a:solidFill>
                <a:latin typeface="微软雅黑" panose="020B0503020204020204" charset="-122"/>
              </a:rPr>
              <a:t>资料难检索</a:t>
            </a:r>
            <a:endParaRPr sz="15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2688" y="2176272"/>
            <a:ext cx="3044951" cy="125272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课件、笔记和文档分散；普通问答无法说明答案出处。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35424" y="1627632"/>
            <a:ext cx="3438144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5424" y="1627632"/>
            <a:ext cx="50292" cy="1920240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792224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500" b="1">
                <a:solidFill>
                  <a:srgbClr val="1A3052"/>
                </a:solidFill>
                <a:latin typeface="微软雅黑" panose="020B0503020204020204" charset="-122"/>
              </a:rPr>
              <a:t>计划难执行</a:t>
            </a:r>
            <a:endParaRPr sz="15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54880" y="2176272"/>
            <a:ext cx="3044951" cy="125272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不知道先学什么；自然语言计划难以校验负载与完成状态。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357615" y="1627632"/>
            <a:ext cx="3438144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57615" y="1627632"/>
            <a:ext cx="50292" cy="1920240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1792224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500" b="1">
                <a:solidFill>
                  <a:srgbClr val="1A3052"/>
                </a:solidFill>
                <a:latin typeface="微软雅黑" panose="020B0503020204020204" charset="-122"/>
              </a:rPr>
              <a:t>学习难复盘</a:t>
            </a:r>
            <a:endParaRPr sz="15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77072" y="2176272"/>
            <a:ext cx="3044951" cy="125272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完成任务后缺少学习记录、掌握度变化和下一步建议。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24128" y="4251960"/>
            <a:ext cx="10149840" cy="1060704"/>
          </a:xfrm>
          <a:prstGeom prst="roundRect">
            <a:avLst/>
          </a:prstGeom>
          <a:solidFill>
            <a:srgbClr val="EBEFFF"/>
          </a:solidFill>
          <a:ln>
            <a:solidFill>
              <a:srgbClr val="EB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4526280"/>
            <a:ext cx="9555480" cy="3840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800" b="1">
                <a:solidFill>
                  <a:srgbClr val="1A3052"/>
                </a:solidFill>
                <a:latin typeface="微软雅黑" panose="020B0503020204020204" charset="-122"/>
              </a:rPr>
              <a:t>项目目标：让“资料从哪里来、今天学什么、学习效果如何”都能被系统记录和验证。</a:t>
            </a:r>
            <a:endParaRPr sz="18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914400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项目定位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从单点工具到持续运行的学习闭环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核心价值是把不同功能连接成一条真实数据链路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16768" y="384048"/>
            <a:ext cx="676656" cy="2011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50" b="0">
                <a:solidFill>
                  <a:srgbClr val="697891"/>
                </a:solidFill>
                <a:latin typeface="微软雅黑" panose="020B0503020204020204" charset="-122"/>
              </a:rPr>
              <a:t>建议 35s</a:t>
            </a:r>
            <a:endParaRPr sz="85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03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7472" y="1874519"/>
            <a:ext cx="1627632" cy="530352"/>
          </a:xfrm>
          <a:prstGeom prst="roundRect">
            <a:avLst/>
          </a:prstGeom>
          <a:solidFill>
            <a:srgbClr val="4C60DC"/>
          </a:solidFill>
          <a:ln>
            <a:solidFill>
              <a:srgbClr val="4C6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课程资料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84248" y="2029968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322576" y="1874519"/>
            <a:ext cx="1627632" cy="530352"/>
          </a:xfrm>
          <a:prstGeom prst="roundRect">
            <a:avLst/>
          </a:prstGeom>
          <a:solidFill>
            <a:srgbClr val="1D9784"/>
          </a:solidFill>
          <a:ln>
            <a:solidFill>
              <a:srgbClr val="1D9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RAG 问答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59352" y="2029968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97680" y="1874519"/>
            <a:ext cx="1627632" cy="530352"/>
          </a:xfrm>
          <a:prstGeom prst="roundRect">
            <a:avLst/>
          </a:prstGeom>
          <a:solidFill>
            <a:srgbClr val="E28B41"/>
          </a:solidFill>
          <a:ln>
            <a:solidFill>
              <a:srgbClr val="E28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候选计划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34456" y="2029968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72784" y="1874519"/>
            <a:ext cx="1627632" cy="530352"/>
          </a:xfrm>
          <a:prstGeom prst="roundRect">
            <a:avLst/>
          </a:prstGeom>
          <a:solidFill>
            <a:srgbClr val="4C60DC"/>
          </a:solidFill>
          <a:ln>
            <a:solidFill>
              <a:srgbClr val="4C6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今日任务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09560" y="2029968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47888" y="1874519"/>
            <a:ext cx="1627632" cy="530352"/>
          </a:xfrm>
          <a:prstGeom prst="roundRect">
            <a:avLst/>
          </a:prstGeom>
          <a:solidFill>
            <a:srgbClr val="1D9784"/>
          </a:solidFill>
          <a:ln>
            <a:solidFill>
              <a:srgbClr val="1D9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学习记录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84664" y="2029968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222992" y="1874519"/>
            <a:ext cx="1627632" cy="530352"/>
          </a:xfrm>
          <a:prstGeom prst="roundRect">
            <a:avLst/>
          </a:prstGeom>
          <a:solidFill>
            <a:srgbClr val="775BBE"/>
          </a:solidFill>
          <a:ln>
            <a:solidFill>
              <a:srgbClr val="77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掌握度反馈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60120" y="3410712"/>
            <a:ext cx="4846320" cy="1426464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3410712"/>
            <a:ext cx="50292" cy="1426464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9576" y="3575304"/>
            <a:ext cx="44531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与普通聊天机器人的区别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79576" y="3959352"/>
            <a:ext cx="4453128" cy="75895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私有课程资料可检索、回答有引用、聊天历史持久化，并受课程权限约束。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27648" y="3410712"/>
            <a:ext cx="4846320" cy="1426464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7648" y="3410712"/>
            <a:ext cx="50292" cy="1426464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47104" y="3575304"/>
            <a:ext cx="44531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与普通任务清单的区别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47104" y="3959352"/>
            <a:ext cx="4453128" cy="75895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计划有版本、有确认、有结构化任务；完成后写入记录并更新掌握度。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51560" y="5358384"/>
            <a:ext cx="10058400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550" b="1">
                <a:solidFill>
                  <a:srgbClr val="1A3052"/>
                </a:solidFill>
                <a:latin typeface="微软雅黑" panose="020B0503020204020204" charset="-122"/>
              </a:rPr>
              <a:t>一句话概括：这是一个“以学习行为为反馈信号”的课程资料与学习计划平台。</a:t>
            </a:r>
            <a:endParaRPr sz="15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914400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功能全景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核心功能已经形成可演示主链路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下面所有截图均来自当前本地 Docker 真实运行环境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16768" y="384048"/>
            <a:ext cx="676656" cy="2011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50" b="0">
                <a:solidFill>
                  <a:srgbClr val="697891"/>
                </a:solidFill>
                <a:latin typeface="微软雅黑" panose="020B0503020204020204" charset="-122"/>
              </a:rPr>
              <a:t>建议 40s</a:t>
            </a:r>
            <a:endParaRPr sz="85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04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" y="1499616"/>
            <a:ext cx="3593592" cy="226771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-cours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6192"/>
            <a:ext cx="3520440" cy="2194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3822191"/>
            <a:ext cx="3520440" cy="16459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20" b="0">
                <a:solidFill>
                  <a:srgbClr val="697891"/>
                </a:solidFill>
                <a:latin typeface="微软雅黑" panose="020B0503020204020204" charset="-122"/>
              </a:rPr>
              <a:t>课程创建与用户数据隔离</a:t>
            </a:r>
            <a:endParaRPr sz="8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97680" y="1499616"/>
            <a:ext cx="3593592" cy="226771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-rag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536192"/>
            <a:ext cx="3520440" cy="2194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34256" y="3822191"/>
            <a:ext cx="3520440" cy="16459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20" b="0">
                <a:solidFill>
                  <a:srgbClr val="697891"/>
                </a:solidFill>
                <a:latin typeface="微软雅黑" panose="020B0503020204020204" charset="-122"/>
              </a:rPr>
              <a:t>私有资料问答与引用</a:t>
            </a:r>
            <a:endParaRPr sz="8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973568" y="1499616"/>
            <a:ext cx="3593592" cy="226771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6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144" y="1536192"/>
            <a:ext cx="3520440" cy="2194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10144" y="3822191"/>
            <a:ext cx="3520440" cy="16459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20" b="0">
                <a:solidFill>
                  <a:srgbClr val="697891"/>
                </a:solidFill>
                <a:latin typeface="微软雅黑" panose="020B0503020204020204" charset="-122"/>
              </a:rPr>
              <a:t>任务、时长与掌握度反馈</a:t>
            </a:r>
            <a:endParaRPr sz="8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8368" y="4224528"/>
            <a:ext cx="3520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224528"/>
            <a:ext cx="50292" cy="1097280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389120"/>
            <a:ext cx="312724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课程与认证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7824" y="4773168"/>
            <a:ext cx="3127248" cy="4297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真实 JWT 会话与课程归属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34255" y="4224528"/>
            <a:ext cx="3520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4255" y="4224528"/>
            <a:ext cx="50292" cy="1097280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4389120"/>
            <a:ext cx="312724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资料与问答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53712" y="4773168"/>
            <a:ext cx="3127248" cy="4297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异步建库、检索与引用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10144" y="4224528"/>
            <a:ext cx="3520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0144" y="4224528"/>
            <a:ext cx="50292" cy="1097280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389120"/>
            <a:ext cx="312724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计划与反馈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29600" y="4773168"/>
            <a:ext cx="3127248" cy="4297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确认、执行、记录与首页聚合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987552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真实用户路径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七个步骤跑通完整业务闭环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现场演示按同一条路径进行，降低答辩风险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16768" y="384048"/>
            <a:ext cx="676656" cy="2011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50" b="0">
                <a:solidFill>
                  <a:srgbClr val="697891"/>
                </a:solidFill>
                <a:latin typeface="微软雅黑" panose="020B0503020204020204" charset="-122"/>
              </a:rPr>
              <a:t>建议 30s</a:t>
            </a:r>
            <a:endParaRPr sz="85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05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0624" y="1755648"/>
            <a:ext cx="2331720" cy="530352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注册登录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0624" y="2414015"/>
            <a:ext cx="2331720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80" b="1">
                <a:solidFill>
                  <a:srgbClr val="697891"/>
                </a:solidFill>
                <a:latin typeface="微软雅黑" panose="020B0503020204020204" charset="-122"/>
              </a:rPr>
              <a:t>01</a:t>
            </a:r>
            <a:endParaRPr sz="88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19272" y="1755648"/>
            <a:ext cx="2331720" cy="530352"/>
          </a:xfrm>
          <a:prstGeom prst="roundRect">
            <a:avLst/>
          </a:prstGeom>
          <a:solidFill>
            <a:srgbClr val="4C60DC"/>
          </a:solidFill>
          <a:ln>
            <a:solidFill>
              <a:srgbClr val="4C6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创建课程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19272" y="2414015"/>
            <a:ext cx="2331720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80" b="1">
                <a:solidFill>
                  <a:srgbClr val="697891"/>
                </a:solidFill>
                <a:latin typeface="微软雅黑" panose="020B0503020204020204" charset="-122"/>
              </a:rPr>
              <a:t>02</a:t>
            </a:r>
            <a:endParaRPr sz="88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0" y="1755648"/>
            <a:ext cx="2331720" cy="530352"/>
          </a:xfrm>
          <a:prstGeom prst="roundRect">
            <a:avLst/>
          </a:prstGeom>
          <a:solidFill>
            <a:srgbClr val="1D9784"/>
          </a:solidFill>
          <a:ln>
            <a:solidFill>
              <a:srgbClr val="1D9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上传资料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0" y="2414015"/>
            <a:ext cx="2331720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80" b="1">
                <a:solidFill>
                  <a:srgbClr val="697891"/>
                </a:solidFill>
                <a:latin typeface="微软雅黑" panose="020B0503020204020204" charset="-122"/>
              </a:rPr>
              <a:t>03</a:t>
            </a:r>
            <a:endParaRPr sz="88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16568" y="1755648"/>
            <a:ext cx="2331720" cy="530352"/>
          </a:xfrm>
          <a:prstGeom prst="roundRect">
            <a:avLst/>
          </a:prstGeom>
          <a:solidFill>
            <a:srgbClr val="E28B41"/>
          </a:solidFill>
          <a:ln>
            <a:solidFill>
              <a:srgbClr val="E28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异步处理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16568" y="2414015"/>
            <a:ext cx="2331720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80" b="1">
                <a:solidFill>
                  <a:srgbClr val="697891"/>
                </a:solidFill>
                <a:latin typeface="微软雅黑" panose="020B0503020204020204" charset="-122"/>
              </a:rPr>
              <a:t>04</a:t>
            </a:r>
            <a:endParaRPr sz="88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20624" y="3054096"/>
            <a:ext cx="2331720" cy="530352"/>
          </a:xfrm>
          <a:prstGeom prst="roundRect">
            <a:avLst/>
          </a:prstGeom>
          <a:solidFill>
            <a:srgbClr val="775BBE"/>
          </a:solidFill>
          <a:ln>
            <a:solidFill>
              <a:srgbClr val="77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资料问答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0624" y="3712463"/>
            <a:ext cx="2331720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80" b="1">
                <a:solidFill>
                  <a:srgbClr val="697891"/>
                </a:solidFill>
                <a:latin typeface="微软雅黑" panose="020B0503020204020204" charset="-122"/>
              </a:rPr>
              <a:t>05</a:t>
            </a:r>
            <a:endParaRPr sz="88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319272" y="3054096"/>
            <a:ext cx="2331720" cy="530352"/>
          </a:xfrm>
          <a:prstGeom prst="roundRect">
            <a:avLst/>
          </a:prstGeom>
          <a:solidFill>
            <a:srgbClr val="4C60DC"/>
          </a:solidFill>
          <a:ln>
            <a:solidFill>
              <a:srgbClr val="4C6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确认计划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19272" y="3712463"/>
            <a:ext cx="2331720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80" b="1">
                <a:solidFill>
                  <a:srgbClr val="697891"/>
                </a:solidFill>
                <a:latin typeface="微软雅黑" panose="020B0503020204020204" charset="-122"/>
              </a:rPr>
              <a:t>06</a:t>
            </a:r>
            <a:endParaRPr sz="88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7920" y="3054096"/>
            <a:ext cx="2331720" cy="530352"/>
          </a:xfrm>
          <a:prstGeom prst="roundRect">
            <a:avLst/>
          </a:prstGeom>
          <a:solidFill>
            <a:srgbClr val="1D9784"/>
          </a:solidFill>
          <a:ln>
            <a:solidFill>
              <a:srgbClr val="1D9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首页反馈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17920" y="3712463"/>
            <a:ext cx="2331720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80" b="1">
                <a:solidFill>
                  <a:srgbClr val="697891"/>
                </a:solidFill>
                <a:latin typeface="微软雅黑" panose="020B0503020204020204" charset="-122"/>
              </a:rPr>
              <a:t>07</a:t>
            </a:r>
            <a:endParaRPr sz="88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234440" y="4754880"/>
            <a:ext cx="9738360" cy="822960"/>
          </a:xfrm>
          <a:prstGeom prst="roundRect">
            <a:avLst/>
          </a:prstGeom>
          <a:solidFill>
            <a:srgbClr val="E8F8F4"/>
          </a:solidFill>
          <a:ln>
            <a:solidFill>
              <a:srgbClr val="E8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5029200"/>
            <a:ext cx="9189720" cy="24688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450" b="1">
                <a:solidFill>
                  <a:srgbClr val="1A3052"/>
                </a:solidFill>
                <a:latin typeface="微软雅黑" panose="020B0503020204020204" charset="-122"/>
              </a:rPr>
              <a:t>每一步都有数据库记录或可恢复状态，页面刷新后不会退回静态演示数据。</a:t>
            </a:r>
            <a:endParaRPr sz="14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1152144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核心功能 01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资料上传与异步处理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为什么不在上传请求里直接完成解析与向量化？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16768" y="384048"/>
            <a:ext cx="676656" cy="2011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50" b="0">
                <a:solidFill>
                  <a:srgbClr val="697891"/>
                </a:solidFill>
                <a:latin typeface="微软雅黑" panose="020B0503020204020204" charset="-122"/>
              </a:rPr>
              <a:t>建议 40s</a:t>
            </a:r>
            <a:endParaRPr sz="85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06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3503" y="1444752"/>
            <a:ext cx="6793992" cy="427024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document-progres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6720840" cy="41970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769864"/>
            <a:ext cx="6720840" cy="16459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20" b="0">
                <a:solidFill>
                  <a:srgbClr val="697891"/>
                </a:solidFill>
                <a:latin typeface="微软雅黑" panose="020B0503020204020204" charset="-122"/>
              </a:rPr>
              <a:t>真实截图：文档已完成解析、切块与向量化</a:t>
            </a:r>
            <a:endParaRPr sz="8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54112" y="1609344"/>
            <a:ext cx="3493008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54112" y="1609344"/>
            <a:ext cx="50292" cy="1097280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1773936"/>
            <a:ext cx="3099815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避免阻塞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73568" y="2157984"/>
            <a:ext cx="3099815" cy="4297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Celery Worker 承担解析、切块和 Embedding，API 快速返回任务 ID。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54112" y="2907792"/>
            <a:ext cx="3493008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54112" y="2907792"/>
            <a:ext cx="50292" cy="1097280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3072384"/>
            <a:ext cx="3099815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状态可恢复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73568" y="3456432"/>
            <a:ext cx="3099815" cy="4297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PostgreSQL 保存关键状态和结果；Redis 保存高频任务进度。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54112" y="4206240"/>
            <a:ext cx="3493008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54112" y="4206240"/>
            <a:ext cx="50292" cy="1097280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3568" y="4370831"/>
            <a:ext cx="3099815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失败可解释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73568" y="4754879"/>
            <a:ext cx="3099815" cy="4297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文件类型、大小、空内容与处理失败均返回明确状态。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1152144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核心功能 02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私有资料 RAG 问答与引用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不是“让模型记住文件”，而是每次回答都检索并验证证据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16768" y="384048"/>
            <a:ext cx="676656" cy="2011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50" b="0">
                <a:solidFill>
                  <a:srgbClr val="697891"/>
                </a:solidFill>
                <a:latin typeface="微软雅黑" panose="020B0503020204020204" charset="-122"/>
              </a:rPr>
              <a:t>建议 50s</a:t>
            </a:r>
            <a:endParaRPr sz="85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07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3503" y="1444752"/>
            <a:ext cx="6793992" cy="427024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-rag-cha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6720840" cy="41970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769864"/>
            <a:ext cx="6720840" cy="16459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20" b="0">
                <a:solidFill>
                  <a:srgbClr val="697891"/>
                </a:solidFill>
                <a:latin typeface="微软雅黑" panose="020B0503020204020204" charset="-122"/>
              </a:rPr>
              <a:t>真实截图：回答、来源片段与匹配分数同步展示</a:t>
            </a:r>
            <a:endParaRPr sz="8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54112" y="1591056"/>
            <a:ext cx="349300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54112" y="1591056"/>
            <a:ext cx="50292" cy="1078992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1755648"/>
            <a:ext cx="3099815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权限过滤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73568" y="2139696"/>
            <a:ext cx="3099815" cy="411479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检索范围绑定当前用户、课程、文档和有效版本。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54112" y="2843784"/>
            <a:ext cx="349300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54112" y="2843784"/>
            <a:ext cx="50292" cy="1078992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3008376"/>
            <a:ext cx="3099815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引用白名单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73568" y="3392424"/>
            <a:ext cx="3099815" cy="411479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回答中的来源必须来自本次检索结果，避免伪造引用。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54112" y="4096512"/>
            <a:ext cx="349300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54112" y="4096512"/>
            <a:ext cx="50292" cy="1078992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3568" y="4261104"/>
            <a:ext cx="3099815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证据不足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73568" y="4645152"/>
            <a:ext cx="3099815" cy="411479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相关度不足时明确拒答，不把外部常识包装成课件结论。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1152144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核心功能 03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结构化学习计划与受控确认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规则生成任务骨架，用户确认后才成为活动计划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16768" y="384048"/>
            <a:ext cx="676656" cy="2011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50" b="0">
                <a:solidFill>
                  <a:srgbClr val="697891"/>
                </a:solidFill>
                <a:latin typeface="微软雅黑" panose="020B0503020204020204" charset="-122"/>
              </a:rPr>
              <a:t>建议 45s</a:t>
            </a:r>
            <a:endParaRPr sz="85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08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64024" y="1444752"/>
            <a:ext cx="6793992" cy="427024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study-pl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81328"/>
            <a:ext cx="6720840" cy="41970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00600" y="5769864"/>
            <a:ext cx="6720840" cy="16459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20" b="0">
                <a:solidFill>
                  <a:srgbClr val="697891"/>
                </a:solidFill>
                <a:latin typeface="微软雅黑" panose="020B0503020204020204" charset="-122"/>
              </a:rPr>
              <a:t>真实截图：活动计划、任务数、总时长与日期分组</a:t>
            </a:r>
            <a:endParaRPr sz="8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1517904"/>
            <a:ext cx="3401568" cy="530352"/>
          </a:xfrm>
          <a:prstGeom prst="roundRect">
            <a:avLst/>
          </a:prstGeom>
          <a:solidFill>
            <a:srgbClr val="4C60DC"/>
          </a:solidFill>
          <a:ln>
            <a:solidFill>
              <a:srgbClr val="4C6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输入目标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6928" y="2139696"/>
            <a:ext cx="3401568" cy="530352"/>
          </a:xfrm>
          <a:prstGeom prst="roundRect">
            <a:avLst/>
          </a:prstGeom>
          <a:solidFill>
            <a:srgbClr val="E28B41"/>
          </a:solidFill>
          <a:ln>
            <a:solidFill>
              <a:srgbClr val="E28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生成候选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6928" y="2761488"/>
            <a:ext cx="3401568" cy="530352"/>
          </a:xfrm>
          <a:prstGeom prst="roundRect">
            <a:avLst/>
          </a:prstGeom>
          <a:solidFill>
            <a:srgbClr val="1D9784"/>
          </a:solidFill>
          <a:ln>
            <a:solidFill>
              <a:srgbClr val="1D9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用户确认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6928" y="3383280"/>
            <a:ext cx="3401568" cy="530352"/>
          </a:xfrm>
          <a:prstGeom prst="roundRect">
            <a:avLst/>
          </a:prstGeom>
          <a:solidFill>
            <a:srgbClr val="775BBE"/>
          </a:solidFill>
          <a:ln>
            <a:solidFill>
              <a:srgbClr val="77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任务生效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4005072"/>
            <a:ext cx="3401568" cy="530352"/>
          </a:xfrm>
          <a:prstGeom prst="roundRect">
            <a:avLst/>
          </a:prstGeom>
          <a:solidFill>
            <a:srgbClr val="4C60DC"/>
          </a:solidFill>
          <a:ln>
            <a:solidFill>
              <a:srgbClr val="4C6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完成记录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66928" y="4626864"/>
            <a:ext cx="3401568" cy="530352"/>
          </a:xfrm>
          <a:prstGeom prst="roundRect">
            <a:avLst/>
          </a:prstGeom>
          <a:solidFill>
            <a:srgbClr val="1D9784"/>
          </a:solidFill>
          <a:ln>
            <a:solidFill>
              <a:srgbClr val="1D9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更新掌握度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5340096"/>
            <a:ext cx="3291840" cy="29260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080" b="1">
                <a:solidFill>
                  <a:srgbClr val="1A3052"/>
                </a:solidFill>
                <a:latin typeface="微软雅黑" panose="020B0503020204020204" charset="-122"/>
              </a:rPr>
              <a:t>候选版本与活动版本隔离，避免系统擅自改变用户日程。</a:t>
            </a:r>
            <a:endParaRPr sz="108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1152144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核心功能 04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真实首页：把学习行为转化为反馈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完成任务后，首页可观察时长、完成率、掌握度与趋势变化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16768" y="384048"/>
            <a:ext cx="676656" cy="2011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50" b="0">
                <a:solidFill>
                  <a:srgbClr val="697891"/>
                </a:solidFill>
                <a:latin typeface="微软雅黑" panose="020B0503020204020204" charset="-122"/>
              </a:rPr>
              <a:t>建议 40s</a:t>
            </a:r>
            <a:endParaRPr sz="85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09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3503" y="1444752"/>
            <a:ext cx="6793992" cy="427024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-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6720840" cy="41970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769864"/>
            <a:ext cx="6720840" cy="16459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20" b="0">
                <a:solidFill>
                  <a:srgbClr val="697891"/>
                </a:solidFill>
                <a:latin typeface="微软雅黑" panose="020B0503020204020204" charset="-122"/>
              </a:rPr>
              <a:t>真实截图：42 分钟学习记录、100% 今日完成率与 41% 平均掌握度</a:t>
            </a:r>
            <a:endParaRPr sz="8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54112" y="1609344"/>
            <a:ext cx="166420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18704" y="1764792"/>
            <a:ext cx="1335024" cy="3200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200" b="1">
                <a:solidFill>
                  <a:srgbClr val="4C60DC"/>
                </a:solidFill>
                <a:latin typeface="微软雅黑" panose="020B0503020204020204" charset="-122"/>
              </a:rPr>
              <a:t>42 min</a:t>
            </a:r>
            <a:endParaRPr sz="2200" b="1">
              <a:solidFill>
                <a:srgbClr val="4C60DC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18704" y="2212848"/>
            <a:ext cx="1335024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870" b="0">
                <a:solidFill>
                  <a:srgbClr val="697891"/>
                </a:solidFill>
                <a:latin typeface="微软雅黑" panose="020B0503020204020204" charset="-122"/>
              </a:rPr>
              <a:t>真实学习时长</a:t>
            </a:r>
            <a:endParaRPr sz="87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582912" y="1609344"/>
            <a:ext cx="166420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47504" y="1764792"/>
            <a:ext cx="1335024" cy="3200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200" b="1">
                <a:solidFill>
                  <a:srgbClr val="1D9784"/>
                </a:solidFill>
                <a:latin typeface="微软雅黑" panose="020B0503020204020204" charset="-122"/>
              </a:rPr>
              <a:t>100%</a:t>
            </a:r>
            <a:endParaRPr sz="2200" b="1">
              <a:solidFill>
                <a:srgbClr val="1D9784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747504" y="2212848"/>
            <a:ext cx="1335024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870" b="0">
                <a:solidFill>
                  <a:srgbClr val="697891"/>
                </a:solidFill>
                <a:latin typeface="微软雅黑" panose="020B0503020204020204" charset="-122"/>
              </a:rPr>
              <a:t>今日任务完成率</a:t>
            </a:r>
            <a:endParaRPr sz="87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54112" y="2834640"/>
            <a:ext cx="166420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18704" y="2990088"/>
            <a:ext cx="1335024" cy="3200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200" b="1">
                <a:solidFill>
                  <a:srgbClr val="775BBE"/>
                </a:solidFill>
                <a:latin typeface="微软雅黑" panose="020B0503020204020204" charset="-122"/>
              </a:rPr>
              <a:t>41%</a:t>
            </a:r>
            <a:endParaRPr sz="2200" b="1">
              <a:solidFill>
                <a:srgbClr val="775BBE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18704" y="3438144"/>
            <a:ext cx="1335024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870" b="0">
                <a:solidFill>
                  <a:srgbClr val="697891"/>
                </a:solidFill>
                <a:latin typeface="微软雅黑" panose="020B0503020204020204" charset="-122"/>
              </a:rPr>
              <a:t>平均掌握度</a:t>
            </a:r>
            <a:endParaRPr sz="87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582912" y="2834640"/>
            <a:ext cx="166420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47504" y="2990088"/>
            <a:ext cx="1335024" cy="3200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200" b="1">
                <a:solidFill>
                  <a:srgbClr val="E28B41"/>
                </a:solidFill>
                <a:latin typeface="微软雅黑" panose="020B0503020204020204" charset="-122"/>
              </a:rPr>
              <a:t>20 天</a:t>
            </a:r>
            <a:endParaRPr sz="2200" b="1">
              <a:solidFill>
                <a:srgbClr val="E28B41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747504" y="3438144"/>
            <a:ext cx="1335024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870" b="0">
                <a:solidFill>
                  <a:srgbClr val="697891"/>
                </a:solidFill>
                <a:latin typeface="微软雅黑" panose="020B0503020204020204" charset="-122"/>
              </a:rPr>
              <a:t>距离考试</a:t>
            </a:r>
            <a:endParaRPr sz="87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754112" y="4096512"/>
            <a:ext cx="3493008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54112" y="4096512"/>
            <a:ext cx="50292" cy="1188720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73568" y="4261104"/>
            <a:ext cx="3099815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数据来源清晰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73568" y="4645152"/>
            <a:ext cx="3099815" cy="52120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课程、活动计划、学习记录、掌握度与异步任务由后端统一聚合。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914400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技术架构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前后端分离 + 异步任务 + 向量检索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不同组件只承担适合自己的职责，避免所有逻辑堆在一个服务中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16768" y="384048"/>
            <a:ext cx="676656" cy="2011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50" b="0">
                <a:solidFill>
                  <a:srgbClr val="697891"/>
                </a:solidFill>
                <a:latin typeface="微软雅黑" panose="020B0503020204020204" charset="-122"/>
              </a:rPr>
              <a:t>建议 50s</a:t>
            </a:r>
            <a:endParaRPr sz="85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10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547872" y="1499616"/>
            <a:ext cx="5102352" cy="530352"/>
          </a:xfrm>
          <a:prstGeom prst="roundRect">
            <a:avLst/>
          </a:prstGeom>
          <a:solidFill>
            <a:srgbClr val="4C60DC"/>
          </a:solidFill>
          <a:ln>
            <a:solidFill>
              <a:srgbClr val="4C6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Vue 3 + TypeScript + Element Plus + ECharts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47872" y="2340864"/>
            <a:ext cx="5102352" cy="530352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FastAPI：鉴权、业务规则、REST API 与统一响应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2962656" cy="530352"/>
          </a:xfrm>
          <a:prstGeom prst="roundRect">
            <a:avLst/>
          </a:prstGeom>
          <a:solidFill>
            <a:srgbClr val="1D9784"/>
          </a:solidFill>
          <a:ln>
            <a:solidFill>
              <a:srgbClr val="1D9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PostgreSQL + pgvector
业务事实 + 向量检索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608576" y="3840480"/>
            <a:ext cx="2962656" cy="530352"/>
          </a:xfrm>
          <a:prstGeom prst="roundRect">
            <a:avLst/>
          </a:prstGeom>
          <a:solidFill>
            <a:srgbClr val="E28B41"/>
          </a:solidFill>
          <a:ln>
            <a:solidFill>
              <a:srgbClr val="E28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Redis + Celery
缓存 + 队列 + Worker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577072" y="3840480"/>
            <a:ext cx="2962656" cy="530352"/>
          </a:xfrm>
          <a:prstGeom prst="roundRect">
            <a:avLst/>
          </a:prstGeom>
          <a:solidFill>
            <a:srgbClr val="775BBE"/>
          </a:solidFill>
          <a:ln>
            <a:solidFill>
              <a:srgbClr val="77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MCP Server
受控工具 + 调用审计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5148072"/>
            <a:ext cx="10351008" cy="29260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450" b="1">
                <a:solidFill>
                  <a:srgbClr val="1A3052"/>
                </a:solidFill>
                <a:latin typeface="微软雅黑" panose="020B0503020204020204" charset="-122"/>
              </a:rPr>
              <a:t>Docker Compose 统一启动 frontend、backend、postgres、redis、worker 五个服务。</a:t>
            </a:r>
            <a:endParaRPr sz="14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914400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工程深度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我们不只实现功能，也处理了四类可靠性问题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这些问题决定项目能否从“能演示”走向“可验证”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16768" y="384048"/>
            <a:ext cx="676656" cy="2011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50" b="0">
                <a:solidFill>
                  <a:srgbClr val="697891"/>
                </a:solidFill>
                <a:latin typeface="微软雅黑" panose="020B0503020204020204" charset="-122"/>
              </a:rPr>
              <a:t>建议 55s</a:t>
            </a:r>
            <a:endParaRPr sz="85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11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1554480"/>
            <a:ext cx="507492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54480"/>
            <a:ext cx="50292" cy="1481328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19072"/>
            <a:ext cx="46817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耗时任务阻塞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2688" y="2103120"/>
            <a:ext cx="4681728" cy="81381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Celery 异步处理；Redis 报进度；PostgreSQL 保存最终状态。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64224" y="1554480"/>
            <a:ext cx="507492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64224" y="1554480"/>
            <a:ext cx="50292" cy="1481328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719072"/>
            <a:ext cx="46817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用户数据越权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0" y="2103120"/>
            <a:ext cx="4681728" cy="81381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每个课程、文档、会话和计划操作都校验当前用户归属。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13232" y="3456432"/>
            <a:ext cx="507492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456432"/>
            <a:ext cx="50292" cy="1481328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21024"/>
            <a:ext cx="46817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计划误生效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2688" y="4005072"/>
            <a:ext cx="4681728" cy="81381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候选版本先展示差异，确认令牌校验后才切换活动版本。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64224" y="3456432"/>
            <a:ext cx="507492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64224" y="3456432"/>
            <a:ext cx="50292" cy="1481328"/>
          </a:xfrm>
          <a:prstGeom prst="rect">
            <a:avLst/>
          </a:prstGeom>
          <a:solidFill>
            <a:srgbClr val="77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621024"/>
            <a:ext cx="46817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重复完成记账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83680" y="4005072"/>
            <a:ext cx="4681728" cy="81381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数据库行锁 + 唯一约束，保证并发提交只写入一次。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078992" y="5376672"/>
            <a:ext cx="10021824" cy="438912"/>
          </a:xfrm>
          <a:prstGeom prst="roundRect">
            <a:avLst/>
          </a:prstGeom>
          <a:solidFill>
            <a:srgbClr val="EBEFFF"/>
          </a:solidFill>
          <a:ln>
            <a:solidFill>
              <a:srgbClr val="EB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5495544"/>
            <a:ext cx="9619488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180" b="1">
                <a:solidFill>
                  <a:srgbClr val="1A3052"/>
                </a:solidFill>
                <a:latin typeface="微软雅黑" panose="020B0503020204020204" charset="-122"/>
              </a:rPr>
              <a:t>代表性补修：任务完成接口从“重复请求幂等”进一步升级为“并发提交也只执行一次”。</a:t>
            </a:r>
            <a:endParaRPr sz="118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914400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验证证据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六轮迭代中，测试数量与真实链路同步增长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数字不是功能数量，而是每轮新增真实行为后的回归保障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16768" y="384048"/>
            <a:ext cx="676656" cy="2011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50" b="0">
                <a:solidFill>
                  <a:srgbClr val="697891"/>
                </a:solidFill>
                <a:latin typeface="微软雅黑" panose="020B0503020204020204" charset="-122"/>
              </a:rPr>
              <a:t>建议 45s</a:t>
            </a:r>
            <a:endParaRPr sz="85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12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1248" y="4161223"/>
            <a:ext cx="749808" cy="886264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157216"/>
            <a:ext cx="749808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950" b="1">
                <a:solidFill>
                  <a:srgbClr val="697891"/>
                </a:solidFill>
                <a:latin typeface="微软雅黑" panose="020B0503020204020204" charset="-122"/>
              </a:rPr>
              <a:t>R1</a:t>
            </a:r>
            <a:endParaRPr sz="95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3886903"/>
            <a:ext cx="749808" cy="2286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8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58568" y="4050440"/>
            <a:ext cx="749808" cy="997047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58568" y="5157216"/>
            <a:ext cx="749808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950" b="1">
                <a:solidFill>
                  <a:srgbClr val="697891"/>
                </a:solidFill>
                <a:latin typeface="微软雅黑" panose="020B0503020204020204" charset="-122"/>
              </a:rPr>
              <a:t>R2</a:t>
            </a:r>
            <a:endParaRPr sz="95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58568" y="3776120"/>
            <a:ext cx="749808" cy="2286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9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75888" y="3607308"/>
            <a:ext cx="749808" cy="1440179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5157216"/>
            <a:ext cx="749808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950" b="1">
                <a:solidFill>
                  <a:srgbClr val="697891"/>
                </a:solidFill>
                <a:latin typeface="微软雅黑" panose="020B0503020204020204" charset="-122"/>
              </a:rPr>
              <a:t>R3</a:t>
            </a:r>
            <a:endParaRPr sz="95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75888" y="3332988"/>
            <a:ext cx="749808" cy="2286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13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93208" y="3164175"/>
            <a:ext cx="749808" cy="1883312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93208" y="5157216"/>
            <a:ext cx="749808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950" b="1">
                <a:solidFill>
                  <a:srgbClr val="697891"/>
                </a:solidFill>
                <a:latin typeface="微软雅黑" panose="020B0503020204020204" charset="-122"/>
              </a:rPr>
              <a:t>R4</a:t>
            </a:r>
            <a:endParaRPr sz="95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93208" y="2889855"/>
            <a:ext cx="749808" cy="2286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17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510528" y="2610260"/>
            <a:ext cx="749808" cy="2437227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5157216"/>
            <a:ext cx="749808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950" b="1">
                <a:solidFill>
                  <a:srgbClr val="697891"/>
                </a:solidFill>
                <a:latin typeface="微软雅黑" panose="020B0503020204020204" charset="-122"/>
              </a:rPr>
              <a:t>R5</a:t>
            </a:r>
            <a:endParaRPr sz="95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10528" y="2335940"/>
            <a:ext cx="749808" cy="2286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22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927848" y="2167128"/>
            <a:ext cx="749808" cy="2880359"/>
          </a:xfrm>
          <a:prstGeom prst="rect">
            <a:avLst/>
          </a:prstGeom>
          <a:solidFill>
            <a:srgbClr val="77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7848" y="5157216"/>
            <a:ext cx="749808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950" b="1">
                <a:solidFill>
                  <a:srgbClr val="697891"/>
                </a:solidFill>
                <a:latin typeface="微软雅黑" panose="020B0503020204020204" charset="-122"/>
              </a:rPr>
              <a:t>R6</a:t>
            </a:r>
            <a:endParaRPr sz="95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27848" y="1892808"/>
            <a:ext cx="749808" cy="2286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26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9808" y="5632704"/>
            <a:ext cx="8796528" cy="16459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50" b="0">
                <a:solidFill>
                  <a:srgbClr val="697891"/>
                </a:solidFill>
                <a:latin typeface="微软雅黑" panose="020B0503020204020204" charset="-122"/>
              </a:rPr>
              <a:t>后端完整测试通过数量（项目状态文档记录）</a:t>
            </a:r>
            <a:endParaRPr sz="85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235440" y="1572768"/>
            <a:ext cx="1993392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1572768"/>
            <a:ext cx="50292" cy="113385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54896" y="1737360"/>
            <a:ext cx="1600200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前端构建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454896" y="2121408"/>
            <a:ext cx="1600200" cy="4663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npm run build
已通过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235440" y="2907792"/>
            <a:ext cx="1993392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35440" y="2907792"/>
            <a:ext cx="50292" cy="1133856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54896" y="3072384"/>
            <a:ext cx="1600200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真实链路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454896" y="3456432"/>
            <a:ext cx="1600200" cy="4663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Docker + PostgreSQL
端到端验证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235440" y="4242816"/>
            <a:ext cx="1993392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4242816"/>
            <a:ext cx="50292" cy="1133856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54896" y="4407407"/>
            <a:ext cx="1600200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关键覆盖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454896" y="4791455"/>
            <a:ext cx="1600200" cy="4663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权限隔离、引用、
幂等、异常状态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914400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团队成长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三人共同推进需求、开发、验证与复盘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不按个人切割成果，强调共同对完整交付负责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16768" y="384048"/>
            <a:ext cx="676656" cy="2011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50" b="0">
                <a:solidFill>
                  <a:srgbClr val="697891"/>
                </a:solidFill>
                <a:latin typeface="微软雅黑" panose="020B0503020204020204" charset="-122"/>
              </a:rPr>
              <a:t>建议 35s</a:t>
            </a:r>
            <a:endParaRPr sz="85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13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1572768"/>
            <a:ext cx="5074920" cy="149047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72768"/>
            <a:ext cx="50292" cy="1490472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37360"/>
            <a:ext cx="46817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需求与取舍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2688" y="2121408"/>
            <a:ext cx="4681728" cy="822959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从“大而全”的设计中识别核心闭环，优先保证真实主链路。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64224" y="1572768"/>
            <a:ext cx="5074920" cy="149047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64224" y="1572768"/>
            <a:ext cx="50292" cy="1490472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737360"/>
            <a:ext cx="46817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联调与排错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0" y="2121408"/>
            <a:ext cx="4681728" cy="822959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围绕 API、数据库、Worker 和页面状态共同定位跨层问题。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13232" y="3493008"/>
            <a:ext cx="5074920" cy="149047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493008"/>
            <a:ext cx="50292" cy="1490472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57600"/>
            <a:ext cx="46817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验证与补修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2688" y="4041648"/>
            <a:ext cx="4681728" cy="822959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每轮先完成真实测试，再进入下一功能；发现并发问题后继续加固。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64224" y="3493008"/>
            <a:ext cx="5074920" cy="149047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64224" y="3493008"/>
            <a:ext cx="50292" cy="1490472"/>
          </a:xfrm>
          <a:prstGeom prst="rect">
            <a:avLst/>
          </a:prstGeom>
          <a:solidFill>
            <a:srgbClr val="77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657600"/>
            <a:ext cx="46817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文档与表达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83680" y="4041648"/>
            <a:ext cx="4681728" cy="822959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沉淀架构、算法、Docker 启动、故障排查与项目状态记录。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0120" y="5486400"/>
            <a:ext cx="10241280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550" b="1">
                <a:solidFill>
                  <a:srgbClr val="1A3052"/>
                </a:solidFill>
                <a:latin typeface="微软雅黑" panose="020B0503020204020204" charset="-122"/>
              </a:rPr>
              <a:t>课程收获：从“写出功能”进步到“理解边界、验证事实、保证交付”。</a:t>
            </a:r>
            <a:endParaRPr sz="15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914400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阶段反思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清楚说明当前边界，比夸大功能更可信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已完成能力与下一阶段规划严格分开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16768" y="384048"/>
            <a:ext cx="676656" cy="2011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50" b="0">
                <a:solidFill>
                  <a:srgbClr val="697891"/>
                </a:solidFill>
                <a:latin typeface="微软雅黑" panose="020B0503020204020204" charset="-122"/>
              </a:rPr>
              <a:t>建议 35s</a:t>
            </a:r>
            <a:endParaRPr sz="85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14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155448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54480"/>
            <a:ext cx="50292" cy="3474720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19072"/>
            <a:ext cx="46817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500" b="1">
                <a:solidFill>
                  <a:srgbClr val="1A3052"/>
                </a:solidFill>
                <a:latin typeface="微软雅黑" panose="020B0503020204020204" charset="-122"/>
              </a:rPr>
              <a:t>当前边界</a:t>
            </a:r>
            <a:endParaRPr sz="15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2688" y="2103120"/>
            <a:ext cx="4681728" cy="280720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• 默认使用离线 Mock LLM Provider，真实外部模型尚未完整联调
• PDF 端到端验证仍需增强
• 推荐、练习、统计等页面仍有部分 Mock 内容
• 浏览器 E2E 尚未形成仓库内长期回归体系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82512" y="155448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2512" y="1554480"/>
            <a:ext cx="50292" cy="3474720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719072"/>
            <a:ext cx="46817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500" b="1">
                <a:solidFill>
                  <a:srgbClr val="1A3052"/>
                </a:solidFill>
                <a:latin typeface="微软雅黑" panose="020B0503020204020204" charset="-122"/>
              </a:rPr>
              <a:t>下一阶段</a:t>
            </a:r>
            <a:endParaRPr sz="15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01968" y="2103120"/>
            <a:ext cx="4681728" cy="280720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• 真实化课程详情、推荐、任务中心和统计页面
• 联调外部 Chat 与 Embedding Provider
• 增加 Playwright E2E 与 CI
• 完善练习错题、动态计划与日历同步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120" y="5522976"/>
            <a:ext cx="10287000" cy="25603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450" b="1">
                <a:solidFill>
                  <a:srgbClr val="1A3052"/>
                </a:solidFill>
                <a:latin typeface="微软雅黑" panose="020B0503020204020204" charset="-122"/>
              </a:rPr>
              <a:t>原则：不把设计文档中的规划描述成已实现功能。</a:t>
            </a:r>
            <a:endParaRPr sz="14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914400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总结与演示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我们完成的是一条可验证的学习数据闭环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主讲结束后，用同一条用户路径进行现场展示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16768" y="384048"/>
            <a:ext cx="676656" cy="2011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50" b="0">
                <a:solidFill>
                  <a:srgbClr val="697891"/>
                </a:solidFill>
                <a:latin typeface="微软雅黑" panose="020B0503020204020204" charset="-122"/>
              </a:rPr>
              <a:t>建议 35s</a:t>
            </a:r>
            <a:endParaRPr sz="85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15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572768"/>
            <a:ext cx="3429000" cy="1316736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572768"/>
            <a:ext cx="50292" cy="1316736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737360"/>
            <a:ext cx="303580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功能完整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9264" y="2121408"/>
            <a:ext cx="3035808" cy="64922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资料、问答、计划、任务、反馈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44568" y="1572768"/>
            <a:ext cx="3429000" cy="1316736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44568" y="1572768"/>
            <a:ext cx="50292" cy="131673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4024" y="1737360"/>
            <a:ext cx="303580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工程扎实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64024" y="2121408"/>
            <a:ext cx="3035808" cy="64922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异步、权限、确认、幂等、容器化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339328" y="1572768"/>
            <a:ext cx="3429000" cy="1316736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39328" y="1572768"/>
            <a:ext cx="50292" cy="1316736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58784" y="1737360"/>
            <a:ext cx="303580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证据充分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58784" y="2121408"/>
            <a:ext cx="3035808" cy="64922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真实截图、测试增长、Docker 链路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20624" y="3730752"/>
            <a:ext cx="1298448" cy="530352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登录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64792" y="3877056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084832" y="3730752"/>
            <a:ext cx="1298448" cy="530352"/>
          </a:xfrm>
          <a:prstGeom prst="roundRect">
            <a:avLst/>
          </a:prstGeom>
          <a:solidFill>
            <a:srgbClr val="4C60DC"/>
          </a:solidFill>
          <a:ln>
            <a:solidFill>
              <a:srgbClr val="4C6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创建课程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29000" y="3877056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749040" y="3730752"/>
            <a:ext cx="1298448" cy="530352"/>
          </a:xfrm>
          <a:prstGeom prst="roundRect">
            <a:avLst/>
          </a:prstGeom>
          <a:solidFill>
            <a:srgbClr val="1D9784"/>
          </a:solidFill>
          <a:ln>
            <a:solidFill>
              <a:srgbClr val="1D9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上传资料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93208" y="3877056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413248" y="3730752"/>
            <a:ext cx="1298448" cy="530352"/>
          </a:xfrm>
          <a:prstGeom prst="roundRect">
            <a:avLst/>
          </a:prstGeom>
          <a:solidFill>
            <a:srgbClr val="775BBE"/>
          </a:solidFill>
          <a:ln>
            <a:solidFill>
              <a:srgbClr val="77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RAG 提问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57416" y="3877056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077456" y="3730752"/>
            <a:ext cx="1298448" cy="530352"/>
          </a:xfrm>
          <a:prstGeom prst="roundRect">
            <a:avLst/>
          </a:prstGeom>
          <a:solidFill>
            <a:srgbClr val="E28B41"/>
          </a:solidFill>
          <a:ln>
            <a:solidFill>
              <a:srgbClr val="E28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确认计划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21624" y="3877056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741664" y="3730752"/>
            <a:ext cx="1298448" cy="530352"/>
          </a:xfrm>
          <a:prstGeom prst="roundRect">
            <a:avLst/>
          </a:prstGeom>
          <a:solidFill>
            <a:srgbClr val="4C60DC"/>
          </a:solidFill>
          <a:ln>
            <a:solidFill>
              <a:srgbClr val="4C6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完成任务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085832" y="3877056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405872" y="3730752"/>
            <a:ext cx="1298448" cy="530352"/>
          </a:xfrm>
          <a:prstGeom prst="roundRect">
            <a:avLst/>
          </a:prstGeom>
          <a:solidFill>
            <a:srgbClr val="1D9784"/>
          </a:solidFill>
          <a:ln>
            <a:solidFill>
              <a:srgbClr val="1D9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首页反馈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4400" y="5184648"/>
            <a:ext cx="10332720" cy="34747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2200" b="1">
                <a:solidFill>
                  <a:srgbClr val="1A3052"/>
                </a:solidFill>
                <a:latin typeface="微软雅黑" panose="020B0503020204020204" charset="-122"/>
              </a:rPr>
              <a:t>谢谢聆听，欢迎老师提问与指导。</a:t>
            </a:r>
            <a:endParaRPr sz="22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7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1152144" cy="274320"/>
          </a:xfrm>
          <a:prstGeom prst="roundRect">
            <a:avLst/>
          </a:prstGeom>
          <a:solidFill>
            <a:srgbClr val="775BBE"/>
          </a:solidFill>
          <a:ln>
            <a:solidFill>
              <a:srgbClr val="77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备用答辩 01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为什么选择这套技术栈？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仅在老师追问技术选型时展示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16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3232" y="1517904"/>
            <a:ext cx="3438144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517904"/>
            <a:ext cx="50292" cy="1481328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82495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Vue 3 + TypeScript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2066543"/>
            <a:ext cx="3044951" cy="81381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组件化、类型约束和成熟 UI 生态，适合快速构建多业务页面。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35424" y="1517904"/>
            <a:ext cx="3438144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35424" y="1517904"/>
            <a:ext cx="50292" cy="1481328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682495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FastAPI + Pydantic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54880" y="2066543"/>
            <a:ext cx="3044951" cy="81381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接口开发快、自动文档清晰、请求响应校验严格。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357615" y="1517904"/>
            <a:ext cx="3438144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57615" y="1517904"/>
            <a:ext cx="50292" cy="1481328"/>
          </a:xfrm>
          <a:prstGeom prst="rect">
            <a:avLst/>
          </a:prstGeom>
          <a:solidFill>
            <a:srgbClr val="77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1682495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PostgreSQL + pgvector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77072" y="2066543"/>
            <a:ext cx="3044951" cy="81381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业务事务与向量检索在同一数据库中完成权限和版本过滤。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13232" y="3456432"/>
            <a:ext cx="3438144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456432"/>
            <a:ext cx="50292" cy="1481328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621024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Redis + Celery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2688" y="4005072"/>
            <a:ext cx="3044951" cy="81381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将高频进度、消息队列与权威业务数据解耦。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535424" y="3456432"/>
            <a:ext cx="3438144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35424" y="3456432"/>
            <a:ext cx="50292" cy="1481328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3621024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Docker Compose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54880" y="4005072"/>
            <a:ext cx="3044951" cy="81381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统一依赖和启动方式，降低组员环境差异与答辩部署风险。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357615" y="3456432"/>
            <a:ext cx="3438144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57615" y="3456432"/>
            <a:ext cx="50292" cy="1481328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77072" y="3621024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MCP Server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77072" y="4005072"/>
            <a:ext cx="3044951" cy="81381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把系统能力暴露为受控工具，并为写操作增加确认与审计。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7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1152144" cy="274320"/>
          </a:xfrm>
          <a:prstGeom prst="roundRect">
            <a:avLst/>
          </a:prstGeom>
          <a:solidFill>
            <a:srgbClr val="775BBE"/>
          </a:solidFill>
          <a:ln>
            <a:solidFill>
              <a:srgbClr val="77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备用答辩 02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PostgreSQL、Redis 与 Worker 如何分工？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回答数据一致性、缓存和异步任务相关问题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17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154680" cy="530352"/>
          </a:xfrm>
          <a:prstGeom prst="roundRect">
            <a:avLst/>
          </a:prstGeom>
          <a:solidFill>
            <a:srgbClr val="1D9784"/>
          </a:solidFill>
          <a:ln>
            <a:solidFill>
              <a:srgbClr val="1D9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PostgreSQL：唯一事实来源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17136" y="1600200"/>
            <a:ext cx="3154680" cy="530352"/>
          </a:xfrm>
          <a:prstGeom prst="roundRect">
            <a:avLst/>
          </a:prstGeom>
          <a:solidFill>
            <a:srgbClr val="E28B41"/>
          </a:solidFill>
          <a:ln>
            <a:solidFill>
              <a:srgbClr val="E28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Redis：可重建高速层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302752" y="1600200"/>
            <a:ext cx="3154680" cy="530352"/>
          </a:xfrm>
          <a:prstGeom prst="roundRect">
            <a:avLst/>
          </a:prstGeom>
          <a:solidFill>
            <a:srgbClr val="775BBE"/>
          </a:solidFill>
          <a:ln>
            <a:solidFill>
              <a:srgbClr val="77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Celery Worker：耗时执行者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2487168"/>
            <a:ext cx="315468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487168"/>
            <a:ext cx="50292" cy="1993392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651760"/>
            <a:ext cx="276148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保存内容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0976" y="3035808"/>
            <a:ext cx="2761488" cy="1325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用户、课程、文档版本、计划版本、任务、聊天、学习记录、最终任务状态。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517136" y="2487168"/>
            <a:ext cx="315468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17136" y="2487168"/>
            <a:ext cx="50292" cy="1993392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2651760"/>
            <a:ext cx="276148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保存内容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36592" y="3035808"/>
            <a:ext cx="2761488" cy="1325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缓存、队列、短期进度和锁；丢失后可从数据库恢复。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302752" y="2487168"/>
            <a:ext cx="315468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02752" y="2487168"/>
            <a:ext cx="50292" cy="1993392"/>
          </a:xfrm>
          <a:prstGeom prst="rect">
            <a:avLst/>
          </a:prstGeom>
          <a:solidFill>
            <a:srgbClr val="77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2651760"/>
            <a:ext cx="276148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处理内容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22208" y="3035808"/>
            <a:ext cx="2761488" cy="1325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文档解析、切块、Embedding 等长任务；接收 ID，不承载权威状态。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115568" y="5084064"/>
            <a:ext cx="9930384" cy="566928"/>
          </a:xfrm>
          <a:prstGeom prst="roundRect">
            <a:avLst/>
          </a:prstGeom>
          <a:solidFill>
            <a:srgbClr val="EBEFFF"/>
          </a:solidFill>
          <a:ln>
            <a:solidFill>
              <a:srgbClr val="EB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5266944"/>
            <a:ext cx="9509760" cy="21031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一致性原则：数据库提交成功才算业务成功；缓存只是加速，不替代事实记录。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7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1152144" cy="274320"/>
          </a:xfrm>
          <a:prstGeom prst="roundRect">
            <a:avLst/>
          </a:prstGeom>
          <a:solidFill>
            <a:srgbClr val="775BBE"/>
          </a:solidFill>
          <a:ln>
            <a:solidFill>
              <a:srgbClr val="77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备用答辩 03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老师可能追问的三个问题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回答时先给结论，再说明证据与边界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18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3232" y="1481328"/>
            <a:ext cx="3438144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81328"/>
            <a:ext cx="50292" cy="3611880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45920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50" b="1">
                <a:solidFill>
                  <a:srgbClr val="1A3052"/>
                </a:solidFill>
                <a:latin typeface="微软雅黑" panose="020B0503020204020204" charset="-122"/>
              </a:rPr>
              <a:t>为什么不直接用大模型回答？</a:t>
            </a:r>
            <a:endParaRPr sz="13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2029968"/>
            <a:ext cx="3044951" cy="29443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结论：普通模型不了解学生私有课件，也无法保证出处。
我们的方案：先检索课程资料，再生成答案；后端校验引用必须来自本次检索结果。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70832" y="1481328"/>
            <a:ext cx="3438144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481328"/>
            <a:ext cx="50292" cy="3611880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645920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50" b="1">
                <a:solidFill>
                  <a:srgbClr val="1A3052"/>
                </a:solidFill>
                <a:latin typeface="微软雅黑" panose="020B0503020204020204" charset="-122"/>
              </a:rPr>
              <a:t>项目最大的技术难点是什么？</a:t>
            </a:r>
            <a:endParaRPr sz="13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90288" y="2029968"/>
            <a:ext cx="3044951" cy="29443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结论：不是页面，而是跨层数据闭环与可靠性。
代表问题：异步任务状态恢复、课程权限隔离、候选计划确认、并发任务完成幂等。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28431" y="1481328"/>
            <a:ext cx="3438144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481328"/>
            <a:ext cx="50292" cy="3611880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645920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50" b="1">
                <a:solidFill>
                  <a:srgbClr val="1A3052"/>
                </a:solidFill>
                <a:latin typeface="微软雅黑" panose="020B0503020204020204" charset="-122"/>
              </a:rPr>
              <a:t>为什么还有 Mock？</a:t>
            </a:r>
            <a:endParaRPr sz="13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47888" y="2029968"/>
            <a:ext cx="3044951" cy="29443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结论：Mock Provider 是离线可复现的降级方案，不等于页面伪数据。
边界：核心链路已接真实后端；外部模型和少数扩展页面仍需下一阶段联调。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60120" y="5623560"/>
            <a:ext cx="10287000" cy="2286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450" b="1">
                <a:solidFill>
                  <a:srgbClr val="1A3052"/>
                </a:solidFill>
                <a:latin typeface="微软雅黑" panose="020B0503020204020204" charset="-122"/>
              </a:rPr>
              <a:t>答辩原则：真实回答、清晰边界、用代码和测试事实支撑结论。</a:t>
            </a:r>
            <a:endParaRPr sz="14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4214</Words>
  <Application>WPS 演示</Application>
  <PresentationFormat>On-screen Show (4:3)</PresentationFormat>
  <Paragraphs>576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WPS_1724724120</cp:lastModifiedBy>
  <cp:revision>2</cp:revision>
  <dcterms:created xsi:type="dcterms:W3CDTF">2013-01-27T09:14:00Z</dcterms:created>
  <dcterms:modified xsi:type="dcterms:W3CDTF">2026-07-25T11:51:00Z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414D7B3734404B80A6F69895B868F7D0_12</vt:lpwstr>
  </property>
</Properties>
</file>